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4" r:id="rId1"/>
  </p:sldMasterIdLst>
  <p:notesMasterIdLst>
    <p:notesMasterId r:id="rId10"/>
  </p:notesMasterIdLst>
  <p:sldIdLst>
    <p:sldId id="269" r:id="rId2"/>
    <p:sldId id="270" r:id="rId3"/>
    <p:sldId id="273" r:id="rId4"/>
    <p:sldId id="271" r:id="rId5"/>
    <p:sldId id="272" r:id="rId6"/>
    <p:sldId id="282" r:id="rId7"/>
    <p:sldId id="283" r:id="rId8"/>
    <p:sldId id="275" r:id="rId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>
          <a:srgbClr val="00000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69" autoAdjust="0"/>
    <p:restoredTop sz="94434" autoAdjust="0"/>
  </p:normalViewPr>
  <p:slideViewPr>
    <p:cSldViewPr>
      <p:cViewPr varScale="1">
        <p:scale>
          <a:sx n="73" d="100"/>
          <a:sy n="73" d="100"/>
        </p:scale>
        <p:origin x="414" y="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0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681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0CFAF4-03A2-41E0-9539-CCA74D29F612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1048682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48683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84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685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73FE31-315A-4A81-BCE1-9662B1FA4F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221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4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59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59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73FE31-315A-4A81-BCE1-9662B1FA4F5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3737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2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2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73FE31-315A-4A81-BCE1-9662B1FA4F5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7676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Holder 2"/>
          <p:cNvSpPr>
            <a:spLocks noGrp="1"/>
          </p:cNvSpPr>
          <p:nvPr>
            <p:ph type="ctrTitle"/>
          </p:nvPr>
        </p:nvSpPr>
        <p:spPr>
          <a:xfrm>
            <a:off x="490829" y="2232736"/>
            <a:ext cx="5301615" cy="11239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1048582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1048583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048584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8/3/2026</a:t>
            </a:fld>
            <a:endParaRPr lang="en-US"/>
          </a:p>
        </p:txBody>
      </p:sp>
      <p:sp>
        <p:nvSpPr>
          <p:cNvPr id="1048585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1048598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1048599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048600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8/3/2026</a:t>
            </a:fld>
            <a:endParaRPr lang="en-US"/>
          </a:p>
        </p:txBody>
      </p:sp>
      <p:sp>
        <p:nvSpPr>
          <p:cNvPr id="1048601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0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1048671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endParaRPr/>
          </a:p>
        </p:txBody>
      </p:sp>
      <p:sp>
        <p:nvSpPr>
          <p:cNvPr id="1048672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endParaRPr/>
          </a:p>
        </p:txBody>
      </p:sp>
      <p:sp>
        <p:nvSpPr>
          <p:cNvPr id="1048673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048674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8/3/2026</a:t>
            </a:fld>
            <a:endParaRPr lang="en-US"/>
          </a:p>
        </p:txBody>
      </p:sp>
      <p:sp>
        <p:nvSpPr>
          <p:cNvPr id="1048675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5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1048626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048627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8/3/2026</a:t>
            </a:fld>
            <a:endParaRPr lang="en-US"/>
          </a:p>
        </p:txBody>
      </p:sp>
      <p:sp>
        <p:nvSpPr>
          <p:cNvPr id="1048628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6" name="bg object 16"/>
          <p:cNvSpPr/>
          <p:nvPr/>
        </p:nvSpPr>
        <p:spPr>
          <a:xfrm>
            <a:off x="1912620" y="-1523"/>
            <a:ext cx="10279380" cy="676910"/>
          </a:xfrm>
          <a:custGeom>
            <a:avLst/>
            <a:gdLst/>
            <a:ahLst/>
            <a:cxnLst/>
            <a:rect l="l" t="t" r="r" b="b"/>
            <a:pathLst>
              <a:path w="10279380" h="676910">
                <a:moveTo>
                  <a:pt x="10279380" y="0"/>
                </a:moveTo>
                <a:lnTo>
                  <a:pt x="0" y="0"/>
                </a:lnTo>
                <a:lnTo>
                  <a:pt x="0" y="676656"/>
                </a:lnTo>
                <a:lnTo>
                  <a:pt x="10279380" y="676656"/>
                </a:lnTo>
                <a:lnTo>
                  <a:pt x="1027938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677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048678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8/3/2026</a:t>
            </a:fld>
            <a:endParaRPr lang="en-US"/>
          </a:p>
        </p:txBody>
      </p:sp>
      <p:sp>
        <p:nvSpPr>
          <p:cNvPr id="1048679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Holder 2"/>
          <p:cNvSpPr>
            <a:spLocks noGrp="1"/>
          </p:cNvSpPr>
          <p:nvPr>
            <p:ph type="title"/>
          </p:nvPr>
        </p:nvSpPr>
        <p:spPr>
          <a:xfrm>
            <a:off x="235711" y="-24307"/>
            <a:ext cx="5901943" cy="575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1048577" name="Holder 3"/>
          <p:cNvSpPr>
            <a:spLocks noGrp="1"/>
          </p:cNvSpPr>
          <p:nvPr>
            <p:ph type="body" idx="1"/>
          </p:nvPr>
        </p:nvSpPr>
        <p:spPr>
          <a:xfrm>
            <a:off x="4676140" y="1246505"/>
            <a:ext cx="7363459" cy="2860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1048578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048579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8/3/2026</a:t>
            </a:fld>
            <a:endParaRPr lang="en-US"/>
          </a:p>
        </p:txBody>
      </p:sp>
      <p:sp>
        <p:nvSpPr>
          <p:cNvPr id="1048580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18.png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12" Type="http://schemas.openxmlformats.org/officeDocument/2006/relationships/image" Target="../media/image1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11" Type="http://schemas.microsoft.com/office/2007/relationships/hdphoto" Target="../media/hdphoto3.wdp"/><Relationship Id="rId5" Type="http://schemas.openxmlformats.org/officeDocument/2006/relationships/image" Target="../media/image13.png"/><Relationship Id="rId10" Type="http://schemas.openxmlformats.org/officeDocument/2006/relationships/image" Target="../media/image16.png"/><Relationship Id="rId4" Type="http://schemas.openxmlformats.org/officeDocument/2006/relationships/image" Target="../media/image12.jpeg"/><Relationship Id="rId9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microsoft.com/office/2007/relationships/hdphoto" Target="../media/hdphoto3.wdp"/><Relationship Id="rId7" Type="http://schemas.openxmlformats.org/officeDocument/2006/relationships/image" Target="../media/image23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jpeg"/><Relationship Id="rId5" Type="http://schemas.microsoft.com/office/2007/relationships/hdphoto" Target="../media/hdphoto4.wdp"/><Relationship Id="rId10" Type="http://schemas.openxmlformats.org/officeDocument/2006/relationships/image" Target="../media/image18.png"/><Relationship Id="rId4" Type="http://schemas.openxmlformats.org/officeDocument/2006/relationships/image" Target="../media/image21.png"/><Relationship Id="rId9" Type="http://schemas.microsoft.com/office/2007/relationships/hdphoto" Target="../media/hdphoto5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object 2"/>
          <p:cNvSpPr txBox="1"/>
          <p:nvPr/>
        </p:nvSpPr>
        <p:spPr>
          <a:xfrm>
            <a:off x="11816842" y="6517919"/>
            <a:ext cx="77470" cy="153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0"/>
              </a:lnSpc>
            </a:pPr>
            <a:r>
              <a:rPr sz="1200" spc="-60" dirty="0"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48587" name="object 3"/>
          <p:cNvSpPr/>
          <p:nvPr/>
        </p:nvSpPr>
        <p:spPr>
          <a:xfrm>
            <a:off x="8215883" y="6160008"/>
            <a:ext cx="3976370" cy="698500"/>
          </a:xfrm>
          <a:custGeom>
            <a:avLst/>
            <a:gdLst/>
            <a:ahLst/>
            <a:cxnLst/>
            <a:rect l="l" t="t" r="r" b="b"/>
            <a:pathLst>
              <a:path w="3976370" h="698500">
                <a:moveTo>
                  <a:pt x="3976116" y="0"/>
                </a:moveTo>
                <a:lnTo>
                  <a:pt x="0" y="0"/>
                </a:lnTo>
                <a:lnTo>
                  <a:pt x="0" y="697988"/>
                </a:lnTo>
                <a:lnTo>
                  <a:pt x="3976116" y="697988"/>
                </a:lnTo>
                <a:lnTo>
                  <a:pt x="3976116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4"/>
          <p:cNvGrpSpPr/>
          <p:nvPr/>
        </p:nvGrpSpPr>
        <p:grpSpPr>
          <a:xfrm>
            <a:off x="7620000" y="595883"/>
            <a:ext cx="4572000" cy="5564505"/>
            <a:chOff x="7620000" y="595883"/>
            <a:chExt cx="4572000" cy="5564505"/>
          </a:xfrm>
        </p:grpSpPr>
        <p:pic>
          <p:nvPicPr>
            <p:cNvPr id="2097152" name="object 5"/>
            <p:cNvPicPr>
              <a:picLocks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88297" y="610412"/>
              <a:ext cx="4103702" cy="4110939"/>
            </a:xfrm>
            <a:prstGeom prst="rect">
              <a:avLst/>
            </a:prstGeom>
          </p:spPr>
        </p:pic>
        <p:pic>
          <p:nvPicPr>
            <p:cNvPr id="2097153" name="object 6"/>
            <p:cNvPicPr>
              <a:picLocks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20000" y="4360163"/>
              <a:ext cx="4122420" cy="1618488"/>
            </a:xfrm>
            <a:prstGeom prst="rect">
              <a:avLst/>
            </a:prstGeom>
          </p:spPr>
        </p:pic>
        <p:pic>
          <p:nvPicPr>
            <p:cNvPr id="2097154" name="object 7"/>
            <p:cNvPicPr>
              <a:picLocks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22563" y="970787"/>
              <a:ext cx="1171955" cy="1191768"/>
            </a:xfrm>
            <a:prstGeom prst="rect">
              <a:avLst/>
            </a:prstGeom>
          </p:spPr>
        </p:pic>
        <p:pic>
          <p:nvPicPr>
            <p:cNvPr id="2097155" name="object 8"/>
            <p:cNvPicPr>
              <a:picLocks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560051" y="4867655"/>
              <a:ext cx="1106424" cy="1292352"/>
            </a:xfrm>
            <a:prstGeom prst="rect">
              <a:avLst/>
            </a:prstGeom>
          </p:spPr>
        </p:pic>
        <p:pic>
          <p:nvPicPr>
            <p:cNvPr id="2097156" name="object 9"/>
            <p:cNvPicPr>
              <a:picLocks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098536" y="1941575"/>
              <a:ext cx="940307" cy="1210056"/>
            </a:xfrm>
            <a:prstGeom prst="rect">
              <a:avLst/>
            </a:prstGeom>
          </p:spPr>
        </p:pic>
        <p:pic>
          <p:nvPicPr>
            <p:cNvPr id="2097157" name="object 10"/>
            <p:cNvPicPr>
              <a:picLocks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416795" y="595883"/>
              <a:ext cx="815340" cy="873251"/>
            </a:xfrm>
            <a:prstGeom prst="rect">
              <a:avLst/>
            </a:prstGeom>
          </p:spPr>
        </p:pic>
        <p:pic>
          <p:nvPicPr>
            <p:cNvPr id="2097158" name="object 11"/>
            <p:cNvPicPr>
              <a:picLocks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375392" y="4082795"/>
              <a:ext cx="1104900" cy="1266443"/>
            </a:xfrm>
            <a:prstGeom prst="rect">
              <a:avLst/>
            </a:prstGeom>
          </p:spPr>
        </p:pic>
        <p:pic>
          <p:nvPicPr>
            <p:cNvPr id="2097159" name="object 12"/>
            <p:cNvPicPr>
              <a:picLocks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982455" y="1597151"/>
              <a:ext cx="938783" cy="1088136"/>
            </a:xfrm>
            <a:prstGeom prst="rect">
              <a:avLst/>
            </a:prstGeom>
          </p:spPr>
        </p:pic>
      </p:grpSp>
      <p:pic>
        <p:nvPicPr>
          <p:cNvPr id="2097160" name="object 13"/>
          <p:cNvPicPr>
            <a:picLocks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306859" y="455676"/>
            <a:ext cx="2251400" cy="458724"/>
          </a:xfrm>
          <a:prstGeom prst="rect">
            <a:avLst/>
          </a:prstGeom>
        </p:spPr>
      </p:pic>
      <p:sp>
        <p:nvSpPr>
          <p:cNvPr id="1048588" name="object 14"/>
          <p:cNvSpPr/>
          <p:nvPr/>
        </p:nvSpPr>
        <p:spPr>
          <a:xfrm>
            <a:off x="0" y="0"/>
            <a:ext cx="2932430" cy="403860"/>
          </a:xfrm>
          <a:custGeom>
            <a:avLst/>
            <a:gdLst/>
            <a:ahLst/>
            <a:cxnLst/>
            <a:rect l="l" t="t" r="r" b="b"/>
            <a:pathLst>
              <a:path w="2932430" h="403860">
                <a:moveTo>
                  <a:pt x="0" y="403860"/>
                </a:moveTo>
                <a:lnTo>
                  <a:pt x="2932176" y="403860"/>
                </a:lnTo>
                <a:lnTo>
                  <a:pt x="2932176" y="0"/>
                </a:lnTo>
                <a:lnTo>
                  <a:pt x="0" y="0"/>
                </a:lnTo>
                <a:lnTo>
                  <a:pt x="0" y="40386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97161" name="object 15"/>
          <p:cNvPicPr>
            <a:picLocks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11128254" y="95943"/>
            <a:ext cx="785675" cy="373516"/>
          </a:xfrm>
          <a:prstGeom prst="rect">
            <a:avLst/>
          </a:prstGeom>
        </p:spPr>
      </p:pic>
      <p:grpSp>
        <p:nvGrpSpPr>
          <p:cNvPr id="18" name="object 16"/>
          <p:cNvGrpSpPr/>
          <p:nvPr/>
        </p:nvGrpSpPr>
        <p:grpSpPr>
          <a:xfrm>
            <a:off x="4175759" y="531876"/>
            <a:ext cx="6876415" cy="109855"/>
            <a:chOff x="4175759" y="531876"/>
            <a:chExt cx="6876415" cy="109855"/>
          </a:xfrm>
        </p:grpSpPr>
        <p:sp>
          <p:nvSpPr>
            <p:cNvPr id="1048589" name="object 17"/>
            <p:cNvSpPr/>
            <p:nvPr/>
          </p:nvSpPr>
          <p:spPr>
            <a:xfrm>
              <a:off x="4175759" y="556260"/>
              <a:ext cx="1725295" cy="59690"/>
            </a:xfrm>
            <a:custGeom>
              <a:avLst/>
              <a:gdLst/>
              <a:ahLst/>
              <a:cxnLst/>
              <a:rect l="l" t="t" r="r" b="b"/>
              <a:pathLst>
                <a:path w="1725295" h="59690">
                  <a:moveTo>
                    <a:pt x="1725167" y="0"/>
                  </a:moveTo>
                  <a:lnTo>
                    <a:pt x="0" y="0"/>
                  </a:lnTo>
                  <a:lnTo>
                    <a:pt x="0" y="59436"/>
                  </a:lnTo>
                  <a:lnTo>
                    <a:pt x="1725167" y="59436"/>
                  </a:lnTo>
                  <a:lnTo>
                    <a:pt x="1725167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8590" name="object 18"/>
            <p:cNvSpPr/>
            <p:nvPr/>
          </p:nvSpPr>
          <p:spPr>
            <a:xfrm>
              <a:off x="5882639" y="556260"/>
              <a:ext cx="1725295" cy="58419"/>
            </a:xfrm>
            <a:custGeom>
              <a:avLst/>
              <a:gdLst/>
              <a:ahLst/>
              <a:cxnLst/>
              <a:rect l="l" t="t" r="r" b="b"/>
              <a:pathLst>
                <a:path w="1725295" h="58420">
                  <a:moveTo>
                    <a:pt x="1725167" y="0"/>
                  </a:moveTo>
                  <a:lnTo>
                    <a:pt x="0" y="0"/>
                  </a:lnTo>
                  <a:lnTo>
                    <a:pt x="0" y="57912"/>
                  </a:lnTo>
                  <a:lnTo>
                    <a:pt x="1725167" y="57912"/>
                  </a:lnTo>
                  <a:lnTo>
                    <a:pt x="1725167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8591" name="object 19"/>
            <p:cNvSpPr/>
            <p:nvPr/>
          </p:nvSpPr>
          <p:spPr>
            <a:xfrm>
              <a:off x="7607807" y="556260"/>
              <a:ext cx="1725295" cy="58419"/>
            </a:xfrm>
            <a:custGeom>
              <a:avLst/>
              <a:gdLst/>
              <a:ahLst/>
              <a:cxnLst/>
              <a:rect l="l" t="t" r="r" b="b"/>
              <a:pathLst>
                <a:path w="1725295" h="58420">
                  <a:moveTo>
                    <a:pt x="1725168" y="0"/>
                  </a:moveTo>
                  <a:lnTo>
                    <a:pt x="0" y="0"/>
                  </a:lnTo>
                  <a:lnTo>
                    <a:pt x="0" y="57912"/>
                  </a:lnTo>
                  <a:lnTo>
                    <a:pt x="1725168" y="57912"/>
                  </a:lnTo>
                  <a:lnTo>
                    <a:pt x="1725168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8592" name="object 20"/>
            <p:cNvSpPr/>
            <p:nvPr/>
          </p:nvSpPr>
          <p:spPr>
            <a:xfrm>
              <a:off x="9326879" y="531876"/>
              <a:ext cx="1725295" cy="109855"/>
            </a:xfrm>
            <a:custGeom>
              <a:avLst/>
              <a:gdLst/>
              <a:ahLst/>
              <a:cxnLst/>
              <a:rect l="l" t="t" r="r" b="b"/>
              <a:pathLst>
                <a:path w="1725295" h="109854">
                  <a:moveTo>
                    <a:pt x="1670303" y="0"/>
                  </a:moveTo>
                  <a:lnTo>
                    <a:pt x="1670303" y="27432"/>
                  </a:lnTo>
                  <a:lnTo>
                    <a:pt x="0" y="27432"/>
                  </a:lnTo>
                  <a:lnTo>
                    <a:pt x="0" y="82296"/>
                  </a:lnTo>
                  <a:lnTo>
                    <a:pt x="1670303" y="82296"/>
                  </a:lnTo>
                  <a:lnTo>
                    <a:pt x="1670303" y="109727"/>
                  </a:lnTo>
                  <a:lnTo>
                    <a:pt x="1725168" y="54863"/>
                  </a:lnTo>
                  <a:lnTo>
                    <a:pt x="1670303" y="0"/>
                  </a:lnTo>
                  <a:close/>
                </a:path>
              </a:pathLst>
            </a:custGeom>
            <a:solidFill>
              <a:srgbClr val="339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48593" name="object 21"/>
          <p:cNvSpPr txBox="1">
            <a:spLocks noGrp="1"/>
          </p:cNvSpPr>
          <p:nvPr>
            <p:ph type="ctrTitle"/>
          </p:nvPr>
        </p:nvSpPr>
        <p:spPr>
          <a:xfrm>
            <a:off x="490829" y="2232736"/>
            <a:ext cx="5301615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3600" dirty="0" smtClean="0"/>
              <a:t>PERBAIKAN BAK COOLING TOWER 1</a:t>
            </a:r>
            <a:endParaRPr sz="36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object 4"/>
          <p:cNvSpPr/>
          <p:nvPr/>
        </p:nvSpPr>
        <p:spPr>
          <a:xfrm>
            <a:off x="57911" y="419100"/>
            <a:ext cx="12077700" cy="6356985"/>
          </a:xfrm>
          <a:custGeom>
            <a:avLst/>
            <a:gdLst/>
            <a:ahLst/>
            <a:cxnLst/>
            <a:rect l="l" t="t" r="r" b="b"/>
            <a:pathLst>
              <a:path w="12077700" h="6356984">
                <a:moveTo>
                  <a:pt x="0" y="6356604"/>
                </a:moveTo>
                <a:lnTo>
                  <a:pt x="12077700" y="6356604"/>
                </a:lnTo>
                <a:lnTo>
                  <a:pt x="12077700" y="0"/>
                </a:lnTo>
                <a:lnTo>
                  <a:pt x="0" y="0"/>
                </a:lnTo>
                <a:lnTo>
                  <a:pt x="0" y="6356604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602" name="object 18"/>
          <p:cNvSpPr/>
          <p:nvPr/>
        </p:nvSpPr>
        <p:spPr>
          <a:xfrm>
            <a:off x="5927090" y="3733800"/>
            <a:ext cx="6096000" cy="326390"/>
          </a:xfrm>
          <a:custGeom>
            <a:avLst/>
            <a:gdLst/>
            <a:ahLst/>
            <a:cxnLst/>
            <a:rect l="l" t="t" r="r" b="b"/>
            <a:pathLst>
              <a:path w="6096000" h="326390">
                <a:moveTo>
                  <a:pt x="3036951" y="0"/>
                </a:moveTo>
                <a:lnTo>
                  <a:pt x="25019" y="8000"/>
                </a:lnTo>
                <a:lnTo>
                  <a:pt x="0" y="118618"/>
                </a:lnTo>
                <a:lnTo>
                  <a:pt x="0" y="322961"/>
                </a:lnTo>
                <a:lnTo>
                  <a:pt x="6096000" y="326136"/>
                </a:lnTo>
                <a:lnTo>
                  <a:pt x="6069203" y="2159"/>
                </a:lnTo>
                <a:lnTo>
                  <a:pt x="3036951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 anchor="ctr" anchorCtr="0"/>
          <a:lstStyle/>
          <a:p>
            <a:r>
              <a:rPr lang="en-US" sz="1600" b="1" dirty="0" smtClean="0">
                <a:solidFill>
                  <a:schemeClr val="bg1"/>
                </a:solidFill>
              </a:rPr>
              <a:t> E. INVESTMENT SUMMARY</a:t>
            </a:r>
            <a:endParaRPr sz="1600" b="1" dirty="0">
              <a:solidFill>
                <a:schemeClr val="bg1"/>
              </a:solidFill>
            </a:endParaRPr>
          </a:p>
        </p:txBody>
      </p:sp>
      <p:sp>
        <p:nvSpPr>
          <p:cNvPr id="1048604" name="object 5"/>
          <p:cNvSpPr/>
          <p:nvPr/>
        </p:nvSpPr>
        <p:spPr>
          <a:xfrm>
            <a:off x="761" y="355854"/>
            <a:ext cx="12189460" cy="0"/>
          </a:xfrm>
          <a:custGeom>
            <a:avLst/>
            <a:gdLst/>
            <a:ahLst/>
            <a:cxnLst/>
            <a:rect l="l" t="t" r="r" b="b"/>
            <a:pathLst>
              <a:path w="12189460">
                <a:moveTo>
                  <a:pt x="0" y="0"/>
                </a:moveTo>
                <a:lnTo>
                  <a:pt x="12188952" y="0"/>
                </a:lnTo>
              </a:path>
            </a:pathLst>
          </a:custGeom>
          <a:ln w="38100">
            <a:solidFill>
              <a:srgbClr val="0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605" name="object 9"/>
          <p:cNvSpPr txBox="1"/>
          <p:nvPr/>
        </p:nvSpPr>
        <p:spPr>
          <a:xfrm>
            <a:off x="6051170" y="5486400"/>
            <a:ext cx="2416175" cy="266740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82245" indent="-169545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182245" algn="l"/>
              </a:tabLst>
            </a:pPr>
            <a:r>
              <a:rPr sz="1100" dirty="0" smtClean="0">
                <a:latin typeface="Calibri"/>
                <a:cs typeface="Calibri"/>
              </a:rPr>
              <a:t>Project</a:t>
            </a:r>
            <a:r>
              <a:rPr sz="1100" spc="-40" dirty="0" smtClean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timeline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1048606" name="object 10"/>
          <p:cNvSpPr txBox="1"/>
          <p:nvPr/>
        </p:nvSpPr>
        <p:spPr>
          <a:xfrm>
            <a:off x="8794750" y="5486400"/>
            <a:ext cx="2940050" cy="266740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1100" dirty="0" smtClean="0">
                <a:latin typeface="Calibri"/>
                <a:cs typeface="Calibri"/>
              </a:rPr>
              <a:t>:</a:t>
            </a:r>
            <a:r>
              <a:rPr lang="en-US" sz="1100" dirty="0" smtClean="0">
                <a:latin typeface="Calibri"/>
                <a:cs typeface="Calibri"/>
              </a:rPr>
              <a:t> </a:t>
            </a:r>
            <a:r>
              <a:rPr lang="en-US" sz="1100" dirty="0">
                <a:latin typeface="Calibri"/>
                <a:cs typeface="Calibri"/>
              </a:rPr>
              <a:t>1</a:t>
            </a:r>
            <a:r>
              <a:rPr lang="en-US" sz="1100" dirty="0" smtClean="0">
                <a:latin typeface="Calibri"/>
                <a:cs typeface="Calibri"/>
              </a:rPr>
              <a:t> Month</a:t>
            </a:r>
            <a:endParaRPr sz="1100" dirty="0">
              <a:latin typeface="Calibri"/>
              <a:cs typeface="Calibri"/>
            </a:endParaRPr>
          </a:p>
        </p:txBody>
      </p:sp>
      <p:pic>
        <p:nvPicPr>
          <p:cNvPr id="2097162" name="object 11"/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144267" y="0"/>
            <a:ext cx="36575" cy="74675"/>
          </a:xfrm>
          <a:prstGeom prst="rect">
            <a:avLst/>
          </a:prstGeom>
        </p:spPr>
      </p:pic>
      <p:sp>
        <p:nvSpPr>
          <p:cNvPr id="1048607" name="object 12"/>
          <p:cNvSpPr/>
          <p:nvPr/>
        </p:nvSpPr>
        <p:spPr>
          <a:xfrm>
            <a:off x="111252" y="475487"/>
            <a:ext cx="5320665" cy="335280"/>
          </a:xfrm>
          <a:custGeom>
            <a:avLst/>
            <a:gdLst/>
            <a:ahLst/>
            <a:cxnLst/>
            <a:rect l="l" t="t" r="r" b="b"/>
            <a:pathLst>
              <a:path w="5320665" h="335280">
                <a:moveTo>
                  <a:pt x="2650490" y="0"/>
                </a:moveTo>
                <a:lnTo>
                  <a:pt x="21780" y="8254"/>
                </a:lnTo>
                <a:lnTo>
                  <a:pt x="0" y="122047"/>
                </a:lnTo>
                <a:lnTo>
                  <a:pt x="0" y="331977"/>
                </a:lnTo>
                <a:lnTo>
                  <a:pt x="5320284" y="335279"/>
                </a:lnTo>
                <a:lnTo>
                  <a:pt x="5296916" y="2159"/>
                </a:lnTo>
                <a:lnTo>
                  <a:pt x="2650490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 anchor="ctr" anchorCtr="0"/>
          <a:lstStyle/>
          <a:p>
            <a:r>
              <a:rPr lang="en-US" sz="1600" b="1" dirty="0" smtClean="0">
                <a:solidFill>
                  <a:schemeClr val="bg1"/>
                </a:solidFill>
              </a:rPr>
              <a:t> A. OBJECTIVE</a:t>
            </a:r>
            <a:endParaRPr sz="1600" b="1" dirty="0">
              <a:solidFill>
                <a:schemeClr val="bg1"/>
              </a:solidFill>
            </a:endParaRPr>
          </a:p>
        </p:txBody>
      </p:sp>
      <p:sp>
        <p:nvSpPr>
          <p:cNvPr id="1048608" name="object 13"/>
          <p:cNvSpPr txBox="1"/>
          <p:nvPr/>
        </p:nvSpPr>
        <p:spPr>
          <a:xfrm>
            <a:off x="235711" y="716836"/>
            <a:ext cx="5242230" cy="302647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38100" marR="5080">
              <a:spcBef>
                <a:spcPts val="580"/>
              </a:spcBef>
            </a:pPr>
            <a:r>
              <a:rPr lang="en-US" sz="1100" dirty="0" err="1" smtClean="0">
                <a:latin typeface="Calibri"/>
                <a:cs typeface="Calibri"/>
              </a:rPr>
              <a:t>Penggantian</a:t>
            </a:r>
            <a:r>
              <a:rPr lang="en-US" sz="1100" dirty="0" smtClean="0">
                <a:latin typeface="Calibri"/>
                <a:cs typeface="Calibri"/>
              </a:rPr>
              <a:t> </a:t>
            </a:r>
            <a:r>
              <a:rPr lang="en-US" sz="1100" dirty="0" err="1" smtClean="0">
                <a:latin typeface="Calibri"/>
                <a:cs typeface="Calibri"/>
              </a:rPr>
              <a:t>pipa</a:t>
            </a:r>
            <a:r>
              <a:rPr lang="en-US" sz="1100" dirty="0" smtClean="0">
                <a:latin typeface="Calibri"/>
                <a:cs typeface="Calibri"/>
              </a:rPr>
              <a:t> inlet </a:t>
            </a:r>
            <a:r>
              <a:rPr lang="en-US" sz="1100" dirty="0" err="1" smtClean="0">
                <a:latin typeface="Calibri"/>
                <a:cs typeface="Calibri"/>
              </a:rPr>
              <a:t>pompa</a:t>
            </a:r>
            <a:r>
              <a:rPr lang="en-US" sz="1100" dirty="0" smtClean="0">
                <a:latin typeface="Calibri"/>
                <a:cs typeface="Calibri"/>
              </a:rPr>
              <a:t> air </a:t>
            </a:r>
            <a:r>
              <a:rPr lang="en-US" sz="1100" dirty="0" err="1" smtClean="0">
                <a:latin typeface="Calibri"/>
                <a:cs typeface="Calibri"/>
              </a:rPr>
              <a:t>dan</a:t>
            </a:r>
            <a:r>
              <a:rPr lang="en-US" sz="1100" dirty="0" smtClean="0">
                <a:latin typeface="Calibri"/>
                <a:cs typeface="Calibri"/>
              </a:rPr>
              <a:t> </a:t>
            </a:r>
            <a:r>
              <a:rPr lang="en-US" sz="1100" dirty="0" err="1" smtClean="0">
                <a:latin typeface="Calibri"/>
                <a:cs typeface="Calibri"/>
              </a:rPr>
              <a:t>pelapisan</a:t>
            </a:r>
            <a:r>
              <a:rPr lang="en-US" sz="1100" dirty="0" smtClean="0">
                <a:latin typeface="Calibri"/>
                <a:cs typeface="Calibri"/>
              </a:rPr>
              <a:t> </a:t>
            </a:r>
            <a:r>
              <a:rPr lang="en-US" sz="1100" dirty="0" err="1" smtClean="0">
                <a:latin typeface="Calibri"/>
                <a:cs typeface="Calibri"/>
              </a:rPr>
              <a:t>dinding</a:t>
            </a:r>
            <a:r>
              <a:rPr lang="en-US" sz="1100" dirty="0" smtClean="0">
                <a:latin typeface="Calibri"/>
                <a:cs typeface="Calibri"/>
              </a:rPr>
              <a:t> </a:t>
            </a:r>
            <a:r>
              <a:rPr lang="en-US" sz="1100" dirty="0" err="1" smtClean="0">
                <a:latin typeface="Calibri"/>
                <a:cs typeface="Calibri"/>
              </a:rPr>
              <a:t>bak</a:t>
            </a:r>
            <a:r>
              <a:rPr lang="en-US" sz="1100" dirty="0" smtClean="0">
                <a:latin typeface="Calibri"/>
                <a:cs typeface="Calibri"/>
              </a:rPr>
              <a:t> area Cooling Tower 1 .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1048609" name="object 14"/>
          <p:cNvSpPr/>
          <p:nvPr/>
        </p:nvSpPr>
        <p:spPr>
          <a:xfrm>
            <a:off x="156971" y="1295400"/>
            <a:ext cx="5299075" cy="335280"/>
          </a:xfrm>
          <a:custGeom>
            <a:avLst/>
            <a:gdLst/>
            <a:ahLst/>
            <a:cxnLst/>
            <a:rect l="l" t="t" r="r" b="b"/>
            <a:pathLst>
              <a:path w="5299075" h="335280">
                <a:moveTo>
                  <a:pt x="2639822" y="0"/>
                </a:moveTo>
                <a:lnTo>
                  <a:pt x="21691" y="8254"/>
                </a:lnTo>
                <a:lnTo>
                  <a:pt x="0" y="122047"/>
                </a:lnTo>
                <a:lnTo>
                  <a:pt x="0" y="331977"/>
                </a:lnTo>
                <a:lnTo>
                  <a:pt x="5298948" y="335279"/>
                </a:lnTo>
                <a:lnTo>
                  <a:pt x="5275707" y="2159"/>
                </a:lnTo>
                <a:lnTo>
                  <a:pt x="2639822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 anchor="ctr" anchorCtr="0"/>
          <a:lstStyle/>
          <a:p>
            <a:r>
              <a:rPr lang="en-US" sz="1600" b="1" dirty="0" smtClean="0">
                <a:solidFill>
                  <a:schemeClr val="bg1"/>
                </a:solidFill>
              </a:rPr>
              <a:t> B. BACKGROUND</a:t>
            </a:r>
            <a:endParaRPr sz="1600" b="1" dirty="0">
              <a:solidFill>
                <a:schemeClr val="bg1"/>
              </a:solidFill>
            </a:endParaRPr>
          </a:p>
        </p:txBody>
      </p:sp>
      <p:sp>
        <p:nvSpPr>
          <p:cNvPr id="1048611" name="object 18"/>
          <p:cNvSpPr/>
          <p:nvPr/>
        </p:nvSpPr>
        <p:spPr>
          <a:xfrm>
            <a:off x="5927090" y="1630680"/>
            <a:ext cx="6096000" cy="326390"/>
          </a:xfrm>
          <a:custGeom>
            <a:avLst/>
            <a:gdLst/>
            <a:ahLst/>
            <a:cxnLst/>
            <a:rect l="l" t="t" r="r" b="b"/>
            <a:pathLst>
              <a:path w="6096000" h="326390">
                <a:moveTo>
                  <a:pt x="3036951" y="0"/>
                </a:moveTo>
                <a:lnTo>
                  <a:pt x="25019" y="8000"/>
                </a:lnTo>
                <a:lnTo>
                  <a:pt x="0" y="118618"/>
                </a:lnTo>
                <a:lnTo>
                  <a:pt x="0" y="322961"/>
                </a:lnTo>
                <a:lnTo>
                  <a:pt x="6096000" y="326136"/>
                </a:lnTo>
                <a:lnTo>
                  <a:pt x="6069203" y="2159"/>
                </a:lnTo>
                <a:lnTo>
                  <a:pt x="3036951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 anchor="ctr" anchorCtr="0"/>
          <a:lstStyle/>
          <a:p>
            <a:r>
              <a:rPr lang="en-US" sz="1600" b="1" dirty="0" smtClean="0">
                <a:solidFill>
                  <a:schemeClr val="bg1"/>
                </a:solidFill>
              </a:rPr>
              <a:t> D. IMPROVEMENT GOALS</a:t>
            </a:r>
            <a:endParaRPr sz="1600" b="1" dirty="0">
              <a:solidFill>
                <a:schemeClr val="bg1"/>
              </a:solidFill>
            </a:endParaRPr>
          </a:p>
        </p:txBody>
      </p:sp>
      <p:sp>
        <p:nvSpPr>
          <p:cNvPr id="1048612" name="object 31"/>
          <p:cNvSpPr txBox="1">
            <a:spLocks noGrp="1"/>
          </p:cNvSpPr>
          <p:nvPr>
            <p:ph type="title"/>
          </p:nvPr>
        </p:nvSpPr>
        <p:spPr>
          <a:xfrm>
            <a:off x="235711" y="-24307"/>
            <a:ext cx="2708330" cy="3181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0" dirty="0"/>
              <a:t>EXECUTIVE</a:t>
            </a:r>
            <a:r>
              <a:rPr spc="-80" dirty="0"/>
              <a:t> </a:t>
            </a:r>
            <a:r>
              <a:rPr spc="-125" dirty="0"/>
              <a:t>SUMMARY</a:t>
            </a:r>
          </a:p>
        </p:txBody>
      </p:sp>
      <p:grpSp>
        <p:nvGrpSpPr>
          <p:cNvPr id="23" name="Group 56"/>
          <p:cNvGrpSpPr/>
          <p:nvPr/>
        </p:nvGrpSpPr>
        <p:grpSpPr>
          <a:xfrm>
            <a:off x="8578215" y="0"/>
            <a:ext cx="3613785" cy="338455"/>
            <a:chOff x="8505443" y="15240"/>
            <a:chExt cx="3613785" cy="338455"/>
          </a:xfrm>
        </p:grpSpPr>
        <p:sp>
          <p:nvSpPr>
            <p:cNvPr id="1048613" name="object 40"/>
            <p:cNvSpPr/>
            <p:nvPr/>
          </p:nvSpPr>
          <p:spPr>
            <a:xfrm>
              <a:off x="8505443" y="15240"/>
              <a:ext cx="3613785" cy="338455"/>
            </a:xfrm>
            <a:custGeom>
              <a:avLst/>
              <a:gdLst/>
              <a:ahLst/>
              <a:cxnLst/>
              <a:rect l="l" t="t" r="r" b="b"/>
              <a:pathLst>
                <a:path w="3613784" h="338455">
                  <a:moveTo>
                    <a:pt x="3613404" y="0"/>
                  </a:moveTo>
                  <a:lnTo>
                    <a:pt x="0" y="0"/>
                  </a:lnTo>
                  <a:lnTo>
                    <a:pt x="0" y="338327"/>
                  </a:lnTo>
                  <a:lnTo>
                    <a:pt x="3613404" y="338327"/>
                  </a:lnTo>
                  <a:lnTo>
                    <a:pt x="3613404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8614" name="object 45"/>
            <p:cNvSpPr txBox="1"/>
            <p:nvPr/>
          </p:nvSpPr>
          <p:spPr>
            <a:xfrm>
              <a:off x="8674989" y="36067"/>
              <a:ext cx="3275329" cy="258404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600" b="1" dirty="0" smtClean="0">
                  <a:solidFill>
                    <a:srgbClr val="FFFFFF"/>
                  </a:solidFill>
                  <a:latin typeface="Calibri"/>
                  <a:cs typeface="Calibri"/>
                </a:rPr>
                <a:t>Supporting </a:t>
              </a:r>
              <a:r>
                <a:rPr sz="1600" b="1" dirty="0">
                  <a:solidFill>
                    <a:srgbClr val="FFFFFF"/>
                  </a:solidFill>
                  <a:latin typeface="Calibri"/>
                  <a:cs typeface="Calibri"/>
                </a:rPr>
                <a:t>/</a:t>
              </a:r>
              <a:r>
                <a:rPr sz="1600" b="1" spc="-50" dirty="0">
                  <a:solidFill>
                    <a:srgbClr val="FFFFFF"/>
                  </a:solidFill>
                  <a:latin typeface="Calibri"/>
                  <a:cs typeface="Calibri"/>
                </a:rPr>
                <a:t> </a:t>
              </a:r>
              <a:r>
                <a:rPr sz="1600" b="1" dirty="0">
                  <a:solidFill>
                    <a:srgbClr val="FFFFFF"/>
                  </a:solidFill>
                  <a:latin typeface="Calibri"/>
                  <a:cs typeface="Calibri"/>
                </a:rPr>
                <a:t>Capex</a:t>
              </a:r>
              <a:r>
                <a:rPr sz="1600" b="1" spc="-30" dirty="0">
                  <a:solidFill>
                    <a:srgbClr val="FFFFFF"/>
                  </a:solidFill>
                  <a:latin typeface="Calibri"/>
                  <a:cs typeface="Calibri"/>
                </a:rPr>
                <a:t> </a:t>
              </a:r>
              <a:r>
                <a:rPr sz="1600" b="1" dirty="0">
                  <a:solidFill>
                    <a:srgbClr val="FFFFFF"/>
                  </a:solidFill>
                  <a:latin typeface="Calibri"/>
                  <a:cs typeface="Calibri"/>
                </a:rPr>
                <a:t>Non</a:t>
              </a:r>
              <a:r>
                <a:rPr sz="1600" b="1" spc="-55" dirty="0">
                  <a:solidFill>
                    <a:srgbClr val="FFFFFF"/>
                  </a:solidFill>
                  <a:latin typeface="Calibri"/>
                  <a:cs typeface="Calibri"/>
                </a:rPr>
                <a:t> </a:t>
              </a:r>
              <a:r>
                <a:rPr sz="1600" b="1" spc="-25" dirty="0">
                  <a:solidFill>
                    <a:srgbClr val="FFFFFF"/>
                  </a:solidFill>
                  <a:latin typeface="Calibri"/>
                  <a:cs typeface="Calibri"/>
                </a:rPr>
                <a:t>FS</a:t>
              </a:r>
              <a:endParaRPr sz="1600" dirty="0">
                <a:latin typeface="Calibri"/>
                <a:cs typeface="Calibri"/>
              </a:endParaRPr>
            </a:p>
          </p:txBody>
        </p:sp>
      </p:grpSp>
      <p:graphicFrame>
        <p:nvGraphicFramePr>
          <p:cNvPr id="4194304" name="Table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0531193"/>
              </p:ext>
            </p:extLst>
          </p:nvPr>
        </p:nvGraphicFramePr>
        <p:xfrm>
          <a:off x="5927089" y="4088589"/>
          <a:ext cx="6122998" cy="123842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519182"/>
                <a:gridCol w="1603816"/>
              </a:tblGrid>
              <a:tr h="34498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 err="1">
                          <a:effectLst/>
                        </a:rPr>
                        <a:t>Aktifitas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 smtClean="0">
                          <a:effectLst/>
                        </a:rPr>
                        <a:t>Cost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9525" marT="9525" marB="0" anchor="ctr"/>
                </a:tc>
              </a:tr>
              <a:tr h="297811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</a:t>
                      </a:r>
                      <a:r>
                        <a:rPr lang="en-US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200" b="0" i="0" u="none" strike="noStrike" baseline="0" dirty="0" err="1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Pengadaan</a:t>
                      </a:r>
                      <a:r>
                        <a:rPr lang="en-US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part/</a:t>
                      </a:r>
                      <a:r>
                        <a:rPr lang="en-US" sz="1200" b="0" i="0" u="none" strike="noStrike" baseline="0" dirty="0" err="1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barang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13.015.000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9525" marT="9525" marB="0" anchor="ctr"/>
                </a:tc>
              </a:tr>
              <a:tr h="297811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 </a:t>
                      </a:r>
                      <a:r>
                        <a:rPr lang="en-US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Jasa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penggantian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pipa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</a:t>
                      </a:r>
                      <a:r>
                        <a:rPr lang="en-US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200" b="0" i="0" u="none" strike="noStrike" baseline="0" dirty="0" err="1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pembersihan</a:t>
                      </a:r>
                      <a:r>
                        <a:rPr lang="en-US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200" b="0" i="0" u="none" strike="noStrike" baseline="0" dirty="0" err="1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dan</a:t>
                      </a:r>
                      <a:r>
                        <a:rPr lang="en-US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coating </a:t>
                      </a:r>
                      <a:r>
                        <a:rPr lang="en-US" sz="1200" b="0" i="0" u="none" strike="noStrike" baseline="0" dirty="0" err="1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bak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96.057.000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9525" marT="9525" marB="0" anchor="ctr"/>
                </a:tc>
              </a:tr>
              <a:tr h="29781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109.072.000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9525" marT="9525" marB="0" anchor="ctr"/>
                </a:tc>
              </a:tr>
            </a:tbl>
          </a:graphicData>
        </a:graphic>
      </p:graphicFrame>
      <p:graphicFrame>
        <p:nvGraphicFramePr>
          <p:cNvPr id="4194305" name="Table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909281"/>
              </p:ext>
            </p:extLst>
          </p:nvPr>
        </p:nvGraphicFramePr>
        <p:xfrm>
          <a:off x="5919872" y="2011680"/>
          <a:ext cx="6103218" cy="12573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7728"/>
                <a:gridCol w="2057400"/>
                <a:gridCol w="2498090"/>
              </a:tblGrid>
              <a:tr h="12866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bg1"/>
                          </a:solidFill>
                        </a:rPr>
                        <a:t>ITEM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bg1"/>
                          </a:solidFill>
                        </a:rPr>
                        <a:t>BEFORE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bg1"/>
                          </a:solidFill>
                        </a:rPr>
                        <a:t>TARGET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29525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 smtClean="0">
                          <a:latin typeface="Calibri (Body)"/>
                        </a:rPr>
                        <a:t>Inlet </a:t>
                      </a:r>
                      <a:r>
                        <a:rPr lang="en-US" sz="1050" dirty="0" err="1" smtClean="0">
                          <a:latin typeface="Calibri (Body)"/>
                        </a:rPr>
                        <a:t>Pipa</a:t>
                      </a:r>
                      <a:r>
                        <a:rPr lang="en-US" sz="1050" dirty="0" smtClean="0">
                          <a:latin typeface="Calibri (Body)"/>
                        </a:rPr>
                        <a:t> </a:t>
                      </a:r>
                      <a:r>
                        <a:rPr lang="en-US" sz="1050" dirty="0" err="1" smtClean="0">
                          <a:latin typeface="Calibri (Body)"/>
                        </a:rPr>
                        <a:t>Pompa</a:t>
                      </a:r>
                      <a:endParaRPr lang="en-US" sz="1050" dirty="0" smtClean="0">
                        <a:latin typeface="Calibri (Body)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en-US" sz="1050" dirty="0" err="1" smtClean="0">
                          <a:latin typeface="Calibri (Body)"/>
                        </a:rPr>
                        <a:t>Pipa</a:t>
                      </a:r>
                      <a:r>
                        <a:rPr lang="en-US" sz="1050" dirty="0" smtClean="0">
                          <a:latin typeface="Calibri (Body)"/>
                        </a:rPr>
                        <a:t> </a:t>
                      </a:r>
                      <a:r>
                        <a:rPr lang="en-US" sz="1050" dirty="0" err="1" smtClean="0">
                          <a:latin typeface="Calibri (Body)"/>
                        </a:rPr>
                        <a:t>Galvanis</a:t>
                      </a:r>
                      <a:r>
                        <a:rPr lang="en-US" sz="1050" dirty="0" smtClean="0">
                          <a:latin typeface="Calibri (Body)"/>
                        </a:rPr>
                        <a:t> 4 Inch</a:t>
                      </a:r>
                    </a:p>
                    <a:p>
                      <a:pPr marL="0" indent="0" algn="ctr">
                        <a:buFont typeface="+mj-lt"/>
                        <a:buNone/>
                      </a:pPr>
                      <a:r>
                        <a:rPr lang="en-US" sz="1050" dirty="0" smtClean="0">
                          <a:latin typeface="Calibri (Body)"/>
                        </a:rPr>
                        <a:t>(</a:t>
                      </a:r>
                      <a:r>
                        <a:rPr lang="en-US" sz="1050" dirty="0" err="1" smtClean="0">
                          <a:latin typeface="Calibri (Body)"/>
                        </a:rPr>
                        <a:t>Bisa</a:t>
                      </a:r>
                      <a:r>
                        <a:rPr lang="en-US" sz="1050" dirty="0" smtClean="0">
                          <a:latin typeface="Calibri (Body)"/>
                        </a:rPr>
                        <a:t> </a:t>
                      </a:r>
                      <a:r>
                        <a:rPr lang="en-US" sz="1050" dirty="0" err="1" smtClean="0">
                          <a:latin typeface="Calibri (Body)"/>
                        </a:rPr>
                        <a:t>Korosif</a:t>
                      </a:r>
                      <a:r>
                        <a:rPr lang="en-US" sz="1050" dirty="0" smtClean="0">
                          <a:latin typeface="Calibri (Body)"/>
                        </a:rPr>
                        <a:t>)</a:t>
                      </a:r>
                      <a:endParaRPr lang="en-US" sz="1050" dirty="0">
                        <a:latin typeface="Calibri (Body)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050" dirty="0" err="1" smtClean="0">
                          <a:latin typeface="Calibri (Body)"/>
                        </a:rPr>
                        <a:t>Pipa</a:t>
                      </a:r>
                      <a:r>
                        <a:rPr lang="en-US" sz="1050" dirty="0" smtClean="0">
                          <a:latin typeface="Calibri (Body)"/>
                        </a:rPr>
                        <a:t> PVC 4 inch </a:t>
                      </a:r>
                    </a:p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050" dirty="0" smtClean="0">
                          <a:latin typeface="Calibri (Body)"/>
                        </a:rPr>
                        <a:t>(</a:t>
                      </a:r>
                      <a:r>
                        <a:rPr lang="en-US" sz="1050" dirty="0" err="1" smtClean="0">
                          <a:latin typeface="Calibri (Body)"/>
                        </a:rPr>
                        <a:t>Tahan</a:t>
                      </a:r>
                      <a:r>
                        <a:rPr lang="en-US" sz="1050" dirty="0" smtClean="0">
                          <a:latin typeface="Calibri (Body)"/>
                        </a:rPr>
                        <a:t> </a:t>
                      </a:r>
                      <a:r>
                        <a:rPr lang="en-US" sz="1050" dirty="0" err="1" smtClean="0">
                          <a:latin typeface="Calibri (Body)"/>
                        </a:rPr>
                        <a:t>korosif</a:t>
                      </a:r>
                      <a:r>
                        <a:rPr lang="en-US" sz="1050" dirty="0" smtClean="0">
                          <a:latin typeface="Calibri (Body)"/>
                        </a:rPr>
                        <a:t>)</a:t>
                      </a:r>
                    </a:p>
                  </a:txBody>
                  <a:tcPr/>
                </a:tc>
              </a:tr>
              <a:tr h="180432">
                <a:tc>
                  <a:txBody>
                    <a:bodyPr/>
                    <a:lstStyle/>
                    <a:p>
                      <a:r>
                        <a:rPr lang="en-US" sz="1050" dirty="0" err="1" smtClean="0">
                          <a:latin typeface="Calibri (Body)"/>
                        </a:rPr>
                        <a:t>Dinding</a:t>
                      </a:r>
                      <a:r>
                        <a:rPr lang="en-US" sz="1050" dirty="0" smtClean="0">
                          <a:latin typeface="Calibri (Body)"/>
                        </a:rPr>
                        <a:t> </a:t>
                      </a:r>
                      <a:r>
                        <a:rPr lang="en-US" sz="1050" dirty="0" err="1" smtClean="0">
                          <a:latin typeface="Calibri (Body)"/>
                        </a:rPr>
                        <a:t>Bak</a:t>
                      </a:r>
                      <a:endParaRPr lang="en-US" sz="1050" dirty="0">
                        <a:latin typeface="Calibri (Body)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</a:pPr>
                      <a:r>
                        <a:rPr lang="en-US" sz="1050" baseline="0" dirty="0" err="1" smtClean="0">
                          <a:latin typeface="Calibri (Body)"/>
                        </a:rPr>
                        <a:t>Dinding</a:t>
                      </a:r>
                      <a:r>
                        <a:rPr lang="en-US" sz="1050" baseline="0" dirty="0" smtClean="0">
                          <a:latin typeface="Calibri (Body)"/>
                        </a:rPr>
                        <a:t> semen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</a:pPr>
                      <a:r>
                        <a:rPr lang="en-US" sz="1050" baseline="0" dirty="0" smtClean="0">
                          <a:latin typeface="Calibri (Body)"/>
                        </a:rPr>
                        <a:t>(</a:t>
                      </a:r>
                      <a:r>
                        <a:rPr lang="en-US" sz="1050" baseline="0" dirty="0" err="1" smtClean="0">
                          <a:latin typeface="Calibri (Body)"/>
                        </a:rPr>
                        <a:t>Sulit</a:t>
                      </a:r>
                      <a:r>
                        <a:rPr lang="en-US" sz="1050" baseline="0" dirty="0" smtClean="0">
                          <a:latin typeface="Calibri (Body)"/>
                        </a:rPr>
                        <a:t> </a:t>
                      </a:r>
                      <a:r>
                        <a:rPr lang="en-US" sz="1050" baseline="0" dirty="0" err="1" smtClean="0">
                          <a:latin typeface="Calibri (Body)"/>
                        </a:rPr>
                        <a:t>dibersihkan</a:t>
                      </a:r>
                      <a:r>
                        <a:rPr lang="en-US" sz="1050" baseline="0" dirty="0" smtClean="0">
                          <a:latin typeface="Calibri (Body)"/>
                        </a:rPr>
                        <a:t> &amp; </a:t>
                      </a:r>
                      <a:r>
                        <a:rPr lang="en-US" sz="1050" baseline="0" dirty="0" err="1" smtClean="0">
                          <a:latin typeface="Calibri (Body)"/>
                        </a:rPr>
                        <a:t>kerak</a:t>
                      </a:r>
                      <a:r>
                        <a:rPr lang="en-US" sz="1050" baseline="0" dirty="0" smtClean="0">
                          <a:latin typeface="Calibri (Body)"/>
                        </a:rPr>
                        <a:t> air </a:t>
                      </a:r>
                      <a:r>
                        <a:rPr lang="en-US" sz="1050" baseline="0" dirty="0" err="1" smtClean="0">
                          <a:latin typeface="Calibri (Body)"/>
                        </a:rPr>
                        <a:t>mudah</a:t>
                      </a:r>
                      <a:r>
                        <a:rPr lang="en-US" sz="1050" baseline="0" dirty="0" smtClean="0">
                          <a:latin typeface="Calibri (Body)"/>
                        </a:rPr>
                        <a:t> </a:t>
                      </a:r>
                      <a:r>
                        <a:rPr lang="en-US" sz="1050" baseline="0" dirty="0" err="1" smtClean="0">
                          <a:latin typeface="Calibri (Body)"/>
                        </a:rPr>
                        <a:t>menempel</a:t>
                      </a:r>
                      <a:r>
                        <a:rPr lang="en-US" sz="1050" baseline="0" dirty="0" smtClean="0">
                          <a:latin typeface="Calibri (Body)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</a:pPr>
                      <a:r>
                        <a:rPr lang="en-US" sz="1050" baseline="0" dirty="0" smtClean="0">
                          <a:latin typeface="Calibri (Body)"/>
                        </a:rPr>
                        <a:t>Coating Epoxy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</a:pPr>
                      <a:r>
                        <a:rPr lang="en-US" sz="1050" baseline="0" dirty="0" smtClean="0">
                          <a:latin typeface="Calibri (Body)"/>
                        </a:rPr>
                        <a:t>(</a:t>
                      </a:r>
                      <a:r>
                        <a:rPr lang="en-US" sz="1050" baseline="0" dirty="0" err="1" smtClean="0">
                          <a:latin typeface="Calibri (Body)"/>
                        </a:rPr>
                        <a:t>Mudah</a:t>
                      </a:r>
                      <a:r>
                        <a:rPr lang="en-US" sz="1050" baseline="0" dirty="0" smtClean="0">
                          <a:latin typeface="Calibri (Body)"/>
                        </a:rPr>
                        <a:t> </a:t>
                      </a:r>
                      <a:r>
                        <a:rPr lang="en-US" sz="1050" baseline="0" dirty="0" err="1" smtClean="0">
                          <a:latin typeface="Calibri (Body)"/>
                        </a:rPr>
                        <a:t>dibersihkan</a:t>
                      </a:r>
                      <a:r>
                        <a:rPr lang="en-US" sz="1050" baseline="0" dirty="0" smtClean="0">
                          <a:latin typeface="Calibri (Body)"/>
                        </a:rPr>
                        <a:t> &amp; </a:t>
                      </a:r>
                      <a:r>
                        <a:rPr lang="en-US" sz="1050" baseline="0" dirty="0" err="1" smtClean="0">
                          <a:latin typeface="Calibri (Body)"/>
                        </a:rPr>
                        <a:t>kerak</a:t>
                      </a:r>
                      <a:r>
                        <a:rPr lang="en-US" sz="1050" baseline="0" dirty="0" smtClean="0">
                          <a:latin typeface="Calibri (Body)"/>
                        </a:rPr>
                        <a:t> air </a:t>
                      </a:r>
                      <a:r>
                        <a:rPr lang="en-US" sz="1050" baseline="0" dirty="0" err="1" smtClean="0">
                          <a:latin typeface="Calibri (Body)"/>
                        </a:rPr>
                        <a:t>tidak</a:t>
                      </a:r>
                      <a:r>
                        <a:rPr lang="en-US" sz="1050" baseline="0" dirty="0" smtClean="0">
                          <a:latin typeface="Calibri (Body)"/>
                        </a:rPr>
                        <a:t> </a:t>
                      </a:r>
                      <a:r>
                        <a:rPr lang="en-US" sz="1050" baseline="0" dirty="0" err="1" smtClean="0">
                          <a:latin typeface="Calibri (Body)"/>
                        </a:rPr>
                        <a:t>mudah</a:t>
                      </a:r>
                      <a:r>
                        <a:rPr lang="en-US" sz="1050" baseline="0" dirty="0" smtClean="0">
                          <a:latin typeface="Calibri (Body)"/>
                        </a:rPr>
                        <a:t> </a:t>
                      </a:r>
                      <a:r>
                        <a:rPr lang="en-US" sz="1050" baseline="0" dirty="0" err="1" smtClean="0">
                          <a:latin typeface="Calibri (Body)"/>
                        </a:rPr>
                        <a:t>menempel</a:t>
                      </a:r>
                      <a:r>
                        <a:rPr lang="en-US" sz="1050" baseline="0" dirty="0" smtClean="0">
                          <a:latin typeface="Calibri (Body)"/>
                        </a:rPr>
                        <a:t>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2" name="TextBox 64"/>
          <p:cNvSpPr txBox="1"/>
          <p:nvPr/>
        </p:nvSpPr>
        <p:spPr>
          <a:xfrm>
            <a:off x="171442" y="1696887"/>
            <a:ext cx="5320970" cy="809707"/>
          </a:xfrm>
          <a:prstGeom prst="rect">
            <a:avLst/>
          </a:prstGeom>
          <a:noFill/>
          <a:ln w="9525" cmpd="sng">
            <a:solidFill>
              <a:schemeClr val="bg1">
                <a:alpha val="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 anchorCtr="0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AutoNum type="arabicPeriod"/>
            </a:pPr>
            <a:r>
              <a:rPr lang="en-US" sz="1200" dirty="0" err="1" smtClean="0"/>
              <a:t>Pipa</a:t>
            </a:r>
            <a:r>
              <a:rPr lang="en-US" sz="1200" dirty="0" smtClean="0"/>
              <a:t> inlet </a:t>
            </a:r>
            <a:r>
              <a:rPr lang="en-US" sz="1200" dirty="0" err="1" smtClean="0"/>
              <a:t>keropos</a:t>
            </a:r>
            <a:r>
              <a:rPr lang="en-US" sz="1200" dirty="0"/>
              <a:t>,</a:t>
            </a:r>
            <a:r>
              <a:rPr lang="en-US" sz="1200" dirty="0" smtClean="0"/>
              <a:t> 2 </a:t>
            </a:r>
            <a:r>
              <a:rPr lang="en-US" sz="1200" dirty="0" err="1" smtClean="0"/>
              <a:t>dari</a:t>
            </a:r>
            <a:r>
              <a:rPr lang="en-US" sz="1200" dirty="0" smtClean="0"/>
              <a:t> 4 </a:t>
            </a:r>
            <a:r>
              <a:rPr lang="en-US" sz="1200" dirty="0" err="1" smtClean="0"/>
              <a:t>pipa</a:t>
            </a:r>
            <a:r>
              <a:rPr lang="en-US" sz="1200" dirty="0" smtClean="0"/>
              <a:t> </a:t>
            </a:r>
            <a:r>
              <a:rPr lang="en-US" sz="1200" dirty="0" err="1" smtClean="0"/>
              <a:t>sudah</a:t>
            </a:r>
            <a:r>
              <a:rPr lang="en-US" sz="1200" dirty="0" smtClean="0"/>
              <a:t> </a:t>
            </a:r>
            <a:r>
              <a:rPr lang="en-US" sz="1200" dirty="0" err="1" smtClean="0"/>
              <a:t>diperbaiki</a:t>
            </a:r>
            <a:r>
              <a:rPr lang="en-US" sz="1200" dirty="0" smtClean="0"/>
              <a:t> </a:t>
            </a:r>
            <a:r>
              <a:rPr lang="en-US" sz="1200" dirty="0" err="1" smtClean="0"/>
              <a:t>namun</a:t>
            </a:r>
            <a:r>
              <a:rPr lang="en-US" sz="1200" dirty="0" smtClean="0"/>
              <a:t> durability </a:t>
            </a:r>
            <a:r>
              <a:rPr lang="en-US" sz="1200" dirty="0" err="1" smtClean="0"/>
              <a:t>rendah</a:t>
            </a:r>
            <a:r>
              <a:rPr lang="en-US" sz="1200" dirty="0" smtClean="0"/>
              <a:t> </a:t>
            </a:r>
            <a:r>
              <a:rPr lang="en-US" sz="1200" dirty="0" err="1" smtClean="0"/>
              <a:t>sehingga</a:t>
            </a:r>
            <a:r>
              <a:rPr lang="en-US" sz="1200" dirty="0" smtClean="0"/>
              <a:t> </a:t>
            </a:r>
            <a:r>
              <a:rPr lang="en-US" sz="1200" dirty="0" err="1" smtClean="0"/>
              <a:t>saat</a:t>
            </a:r>
            <a:r>
              <a:rPr lang="en-US" sz="1200" dirty="0" smtClean="0"/>
              <a:t> </a:t>
            </a:r>
            <a:r>
              <a:rPr lang="en-US" sz="1200" dirty="0" err="1" smtClean="0"/>
              <a:t>dipakai</a:t>
            </a:r>
            <a:r>
              <a:rPr lang="en-US" sz="1200" dirty="0" smtClean="0"/>
              <a:t>, </a:t>
            </a:r>
            <a:r>
              <a:rPr lang="en-US" sz="1200" dirty="0" err="1" smtClean="0"/>
              <a:t>rusak</a:t>
            </a:r>
            <a:r>
              <a:rPr lang="en-US" sz="1200" dirty="0" smtClean="0"/>
              <a:t>/</a:t>
            </a:r>
            <a:r>
              <a:rPr lang="en-US" sz="1200" dirty="0" err="1" smtClean="0"/>
              <a:t>bocor</a:t>
            </a:r>
            <a:r>
              <a:rPr lang="en-US" sz="1200" dirty="0" smtClean="0"/>
              <a:t> </a:t>
            </a:r>
            <a:r>
              <a:rPr lang="en-US" sz="1200" dirty="0" err="1" smtClean="0"/>
              <a:t>kembali</a:t>
            </a:r>
            <a:r>
              <a:rPr lang="en-US" sz="1200" dirty="0" smtClean="0"/>
              <a:t>.</a:t>
            </a:r>
          </a:p>
          <a:p>
            <a:pPr marL="228600" indent="-228600">
              <a:buAutoNum type="arabicPeriod"/>
            </a:pPr>
            <a:endParaRPr lang="en-US" sz="1200" dirty="0"/>
          </a:p>
          <a:p>
            <a:pPr marL="228600" indent="-228600">
              <a:buAutoNum type="arabicPeriod"/>
            </a:pPr>
            <a:endParaRPr lang="en-US" sz="1200" dirty="0" smtClean="0"/>
          </a:p>
          <a:p>
            <a:pPr marL="228600" indent="-228600">
              <a:buAutoNum type="arabicPeriod"/>
            </a:pPr>
            <a:endParaRPr lang="en-US" sz="1200" dirty="0"/>
          </a:p>
          <a:p>
            <a:pPr marL="228600" indent="-228600">
              <a:buAutoNum type="arabicPeriod"/>
            </a:pPr>
            <a:endParaRPr lang="en-US" sz="1200" dirty="0" smtClean="0"/>
          </a:p>
          <a:p>
            <a:pPr marL="228600" indent="-228600">
              <a:buAutoNum type="arabicPeriod"/>
            </a:pPr>
            <a:endParaRPr lang="en-US" sz="1200" dirty="0"/>
          </a:p>
          <a:p>
            <a:pPr marL="228600" indent="-228600">
              <a:buAutoNum type="arabicPeriod"/>
            </a:pPr>
            <a:endParaRPr lang="en-US" sz="1200" dirty="0" smtClean="0"/>
          </a:p>
          <a:p>
            <a:pPr marL="228600" indent="-228600">
              <a:buAutoNum type="arabicPeriod"/>
            </a:pPr>
            <a:endParaRPr lang="en-US" sz="1200" dirty="0"/>
          </a:p>
          <a:p>
            <a:pPr marL="228600" indent="-228600">
              <a:buAutoNum type="arabicPeriod"/>
            </a:pPr>
            <a:endParaRPr lang="en-US" sz="1200" dirty="0" smtClean="0"/>
          </a:p>
          <a:p>
            <a:pPr marL="228600" indent="-228600">
              <a:buAutoNum type="arabicPeriod"/>
            </a:pPr>
            <a:endParaRPr lang="en-US" sz="1200" dirty="0"/>
          </a:p>
          <a:p>
            <a:pPr marL="228600" indent="-228600">
              <a:buAutoNum type="arabicPeriod"/>
            </a:pPr>
            <a:endParaRPr lang="en-US" sz="1200" dirty="0" smtClean="0"/>
          </a:p>
          <a:p>
            <a:pPr marL="228600" indent="-228600">
              <a:buAutoNum type="arabicPeriod"/>
            </a:pPr>
            <a:endParaRPr lang="en-US" sz="1200" dirty="0"/>
          </a:p>
          <a:p>
            <a:pPr marL="228600" indent="-228600">
              <a:buAutoNum type="arabicPeriod"/>
            </a:pPr>
            <a:endParaRPr lang="en-US" sz="1200" dirty="0" smtClean="0"/>
          </a:p>
          <a:p>
            <a:pPr marL="228600" indent="-228600">
              <a:buAutoNum type="arabicPeriod"/>
            </a:pPr>
            <a:endParaRPr lang="en-US" sz="1200" dirty="0"/>
          </a:p>
          <a:p>
            <a:pPr marL="228600" indent="-228600">
              <a:buAutoNum type="arabicPeriod"/>
            </a:pPr>
            <a:endParaRPr lang="en-US" sz="1200" dirty="0" smtClean="0"/>
          </a:p>
          <a:p>
            <a:pPr marL="228600" indent="-228600">
              <a:buAutoNum type="arabicPeriod"/>
            </a:pPr>
            <a:r>
              <a:rPr lang="en-US" sz="1200" dirty="0" smtClean="0"/>
              <a:t>TDS air 1.446 mg/L </a:t>
            </a:r>
            <a:r>
              <a:rPr lang="en-US" sz="1200" dirty="0" err="1" smtClean="0"/>
              <a:t>melebihi</a:t>
            </a:r>
            <a:r>
              <a:rPr lang="en-US" sz="1200" dirty="0" smtClean="0"/>
              <a:t> limit 1.000 mg/L, </a:t>
            </a:r>
            <a:r>
              <a:rPr lang="en-US" sz="1200" dirty="0" err="1" smtClean="0"/>
              <a:t>sehingga</a:t>
            </a:r>
            <a:r>
              <a:rPr lang="en-US" sz="1200" dirty="0" smtClean="0"/>
              <a:t> </a:t>
            </a:r>
            <a:r>
              <a:rPr lang="en-US" sz="1200" dirty="0" err="1" smtClean="0"/>
              <a:t>pipa</a:t>
            </a:r>
            <a:r>
              <a:rPr lang="en-US" sz="1200" dirty="0" smtClean="0"/>
              <a:t> &amp; equipment water cooler </a:t>
            </a:r>
            <a:r>
              <a:rPr lang="en-US" sz="1200" dirty="0" err="1" smtClean="0"/>
              <a:t>lebih</a:t>
            </a:r>
            <a:r>
              <a:rPr lang="en-US" sz="1200" dirty="0" smtClean="0"/>
              <a:t> </a:t>
            </a:r>
            <a:r>
              <a:rPr lang="en-US" sz="1200" dirty="0" err="1" smtClean="0"/>
              <a:t>cepat</a:t>
            </a:r>
            <a:r>
              <a:rPr lang="en-US" sz="1200" dirty="0" smtClean="0"/>
              <a:t> </a:t>
            </a:r>
            <a:r>
              <a:rPr lang="en-US" sz="1200" dirty="0" err="1" smtClean="0"/>
              <a:t>berkerak</a:t>
            </a:r>
            <a:r>
              <a:rPr lang="en-US" sz="1200" dirty="0" smtClean="0"/>
              <a:t>.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562001" y="2209800"/>
            <a:ext cx="1821689" cy="2380487"/>
            <a:chOff x="235711" y="3431085"/>
            <a:chExt cx="1821689" cy="2817315"/>
          </a:xfrm>
        </p:grpSpPr>
        <p:pic>
          <p:nvPicPr>
            <p:cNvPr id="25" name="Picture 24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5711" y="3431085"/>
              <a:ext cx="1821689" cy="2817315"/>
            </a:xfrm>
            <a:prstGeom prst="rect">
              <a:avLst/>
            </a:prstGeom>
          </p:spPr>
        </p:pic>
        <p:sp>
          <p:nvSpPr>
            <p:cNvPr id="26" name="Oval 25"/>
            <p:cNvSpPr/>
            <p:nvPr/>
          </p:nvSpPr>
          <p:spPr>
            <a:xfrm>
              <a:off x="513294" y="4974959"/>
              <a:ext cx="192211" cy="46355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id-ID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7" name="Oval 26"/>
            <p:cNvSpPr/>
            <p:nvPr/>
          </p:nvSpPr>
          <p:spPr>
            <a:xfrm>
              <a:off x="914400" y="3657600"/>
              <a:ext cx="93360" cy="292372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id-ID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9" name="TextBox 64"/>
          <p:cNvSpPr txBox="1"/>
          <p:nvPr/>
        </p:nvSpPr>
        <p:spPr>
          <a:xfrm>
            <a:off x="5893223" y="838200"/>
            <a:ext cx="5320970" cy="484420"/>
          </a:xfrm>
          <a:prstGeom prst="rect">
            <a:avLst/>
          </a:prstGeom>
          <a:noFill/>
          <a:ln w="9525" cmpd="sng">
            <a:solidFill>
              <a:schemeClr val="bg1">
                <a:alpha val="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 anchorCtr="0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AutoNum type="arabicPeriod"/>
            </a:pPr>
            <a:r>
              <a:rPr lang="en-US" sz="1200" dirty="0" err="1" smtClean="0"/>
              <a:t>Penggantian</a:t>
            </a:r>
            <a:r>
              <a:rPr lang="en-US" sz="1200" dirty="0" smtClean="0"/>
              <a:t> </a:t>
            </a:r>
            <a:r>
              <a:rPr lang="en-US" sz="1200" dirty="0" err="1" smtClean="0"/>
              <a:t>pipa</a:t>
            </a:r>
            <a:r>
              <a:rPr lang="en-US" sz="1200" dirty="0" smtClean="0"/>
              <a:t> inlet </a:t>
            </a:r>
            <a:r>
              <a:rPr lang="en-US" sz="1200" dirty="0" err="1" smtClean="0"/>
              <a:t>dengan</a:t>
            </a:r>
            <a:r>
              <a:rPr lang="en-US" sz="1200" dirty="0" smtClean="0"/>
              <a:t> </a:t>
            </a:r>
            <a:r>
              <a:rPr lang="en-US" sz="1200" dirty="0" err="1" smtClean="0"/>
              <a:t>pipa</a:t>
            </a:r>
            <a:r>
              <a:rPr lang="en-US" sz="1200" dirty="0" smtClean="0"/>
              <a:t> PVC</a:t>
            </a:r>
          </a:p>
          <a:p>
            <a:pPr marL="228600" indent="-228600">
              <a:buAutoNum type="arabicPeriod"/>
            </a:pPr>
            <a:r>
              <a:rPr lang="en-US" sz="1200" dirty="0" err="1" smtClean="0"/>
              <a:t>Pembersihan</a:t>
            </a:r>
            <a:r>
              <a:rPr lang="en-US" sz="1200" dirty="0" smtClean="0"/>
              <a:t> </a:t>
            </a:r>
            <a:r>
              <a:rPr lang="en-US" sz="1200" dirty="0" err="1" smtClean="0"/>
              <a:t>kerak</a:t>
            </a:r>
            <a:r>
              <a:rPr lang="en-US" sz="1200" dirty="0" smtClean="0"/>
              <a:t> </a:t>
            </a:r>
            <a:r>
              <a:rPr lang="en-US" sz="1200" dirty="0" err="1" smtClean="0"/>
              <a:t>dinding</a:t>
            </a:r>
            <a:r>
              <a:rPr lang="en-US" sz="1200" dirty="0" smtClean="0"/>
              <a:t> </a:t>
            </a:r>
            <a:r>
              <a:rPr lang="en-US" sz="1200" dirty="0" err="1" smtClean="0"/>
              <a:t>dan</a:t>
            </a:r>
            <a:r>
              <a:rPr lang="en-US" sz="1200" dirty="0" smtClean="0"/>
              <a:t> coating EPOXY </a:t>
            </a:r>
          </a:p>
        </p:txBody>
      </p:sp>
      <p:sp>
        <p:nvSpPr>
          <p:cNvPr id="31" name="object 18"/>
          <p:cNvSpPr/>
          <p:nvPr/>
        </p:nvSpPr>
        <p:spPr>
          <a:xfrm>
            <a:off x="5927090" y="467955"/>
            <a:ext cx="6096000" cy="326390"/>
          </a:xfrm>
          <a:custGeom>
            <a:avLst/>
            <a:gdLst/>
            <a:ahLst/>
            <a:cxnLst/>
            <a:rect l="l" t="t" r="r" b="b"/>
            <a:pathLst>
              <a:path w="6096000" h="326390">
                <a:moveTo>
                  <a:pt x="3036951" y="0"/>
                </a:moveTo>
                <a:lnTo>
                  <a:pt x="25019" y="8000"/>
                </a:lnTo>
                <a:lnTo>
                  <a:pt x="0" y="118618"/>
                </a:lnTo>
                <a:lnTo>
                  <a:pt x="0" y="322961"/>
                </a:lnTo>
                <a:lnTo>
                  <a:pt x="6096000" y="326136"/>
                </a:lnTo>
                <a:lnTo>
                  <a:pt x="6069203" y="2159"/>
                </a:lnTo>
                <a:lnTo>
                  <a:pt x="3036951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 anchor="ctr" anchorCtr="0"/>
          <a:lstStyle/>
          <a:p>
            <a:r>
              <a:rPr lang="en-US" sz="1600" b="1" dirty="0" smtClean="0">
                <a:solidFill>
                  <a:schemeClr val="bg1"/>
                </a:solidFill>
              </a:rPr>
              <a:t> C. STRATEGI CONSIDERATION</a:t>
            </a:r>
            <a:endParaRPr sz="1600" b="1" dirty="0">
              <a:solidFill>
                <a:schemeClr val="bg1"/>
              </a:solidFill>
            </a:endParaRPr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 rotWithShape="1"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4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2956" b="7478"/>
          <a:stretch/>
        </p:blipFill>
        <p:spPr>
          <a:xfrm rot="10800000">
            <a:off x="2613454" y="2673706"/>
            <a:ext cx="1074596" cy="1329615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4056940" y="3176931"/>
            <a:ext cx="1048459" cy="1242669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9029" b="19883"/>
          <a:stretch/>
        </p:blipFill>
        <p:spPr>
          <a:xfrm>
            <a:off x="4056941" y="2057400"/>
            <a:ext cx="1079281" cy="980711"/>
          </a:xfrm>
          <a:prstGeom prst="rect">
            <a:avLst/>
          </a:prstGeom>
        </p:spPr>
      </p:pic>
      <p:sp>
        <p:nvSpPr>
          <p:cNvPr id="36" name="TextBox 64"/>
          <p:cNvSpPr txBox="1"/>
          <p:nvPr/>
        </p:nvSpPr>
        <p:spPr>
          <a:xfrm>
            <a:off x="2590800" y="4102311"/>
            <a:ext cx="1120347" cy="317289"/>
          </a:xfrm>
          <a:prstGeom prst="rect">
            <a:avLst/>
          </a:prstGeom>
          <a:noFill/>
          <a:ln w="9525" cmpd="sng">
            <a:solidFill>
              <a:schemeClr val="tx1">
                <a:alpha val="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36000" rIns="36000" rtlCol="0" anchor="t" anchorCtr="0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 err="1" smtClean="0"/>
              <a:t>Pipa</a:t>
            </a:r>
            <a:r>
              <a:rPr lang="en-US" sz="1200" dirty="0" smtClean="0"/>
              <a:t> inlet </a:t>
            </a:r>
            <a:r>
              <a:rPr lang="en-US" sz="1200" dirty="0" err="1" smtClean="0"/>
              <a:t>patah</a:t>
            </a:r>
            <a:endParaRPr lang="en-US" sz="1200" dirty="0" smtClean="0"/>
          </a:p>
        </p:txBody>
      </p:sp>
      <p:sp>
        <p:nvSpPr>
          <p:cNvPr id="38" name="TextBox 64"/>
          <p:cNvSpPr txBox="1"/>
          <p:nvPr/>
        </p:nvSpPr>
        <p:spPr>
          <a:xfrm>
            <a:off x="3886200" y="4267200"/>
            <a:ext cx="1395510" cy="286512"/>
          </a:xfrm>
          <a:prstGeom prst="rect">
            <a:avLst/>
          </a:prstGeom>
          <a:solidFill>
            <a:schemeClr val="bg1"/>
          </a:solidFill>
          <a:ln w="9525" cmpd="sng">
            <a:solidFill>
              <a:schemeClr val="tx1">
                <a:alpha val="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36000" rIns="36000" rtlCol="0" anchor="t" anchorCtr="0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 err="1" smtClean="0"/>
              <a:t>Penambalan</a:t>
            </a:r>
            <a:r>
              <a:rPr lang="en-US" sz="1200" dirty="0" smtClean="0"/>
              <a:t> </a:t>
            </a:r>
            <a:r>
              <a:rPr lang="en-US" sz="1200" dirty="0" err="1" smtClean="0"/>
              <a:t>pipa</a:t>
            </a:r>
            <a:endParaRPr lang="en-US" sz="1200" dirty="0" smtClean="0"/>
          </a:p>
        </p:txBody>
      </p:sp>
      <p:sp>
        <p:nvSpPr>
          <p:cNvPr id="39" name="TextBox 64"/>
          <p:cNvSpPr txBox="1"/>
          <p:nvPr/>
        </p:nvSpPr>
        <p:spPr>
          <a:xfrm>
            <a:off x="3886200" y="2819400"/>
            <a:ext cx="1395510" cy="286512"/>
          </a:xfrm>
          <a:prstGeom prst="rect">
            <a:avLst/>
          </a:prstGeom>
          <a:solidFill>
            <a:schemeClr val="bg1"/>
          </a:solidFill>
          <a:ln w="9525" cmpd="sng">
            <a:solidFill>
              <a:schemeClr val="tx1">
                <a:alpha val="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36000" rIns="36000" rtlCol="0" anchor="t" anchorCtr="0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 err="1" smtClean="0"/>
              <a:t>Pengelasan</a:t>
            </a:r>
            <a:r>
              <a:rPr lang="en-US" sz="1200" dirty="0" smtClean="0"/>
              <a:t> </a:t>
            </a:r>
            <a:r>
              <a:rPr lang="en-US" sz="1200" dirty="0" err="1" smtClean="0"/>
              <a:t>pipa</a:t>
            </a:r>
            <a:endParaRPr lang="en-US" sz="1200" dirty="0" smtClean="0"/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4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5446" b="28877"/>
          <a:stretch/>
        </p:blipFill>
        <p:spPr>
          <a:xfrm>
            <a:off x="3287881" y="4938985"/>
            <a:ext cx="1629181" cy="87381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 rot="900000">
            <a:off x="3581400" y="5310861"/>
            <a:ext cx="1295400" cy="449622"/>
          </a:xfrm>
          <a:prstGeom prst="ellipse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64"/>
          <p:cNvSpPr txBox="1"/>
          <p:nvPr/>
        </p:nvSpPr>
        <p:spPr>
          <a:xfrm>
            <a:off x="4220633" y="4890822"/>
            <a:ext cx="1120347" cy="420039"/>
          </a:xfrm>
          <a:prstGeom prst="rect">
            <a:avLst/>
          </a:prstGeom>
          <a:solidFill>
            <a:schemeClr val="bg1"/>
          </a:solidFill>
          <a:ln w="9525" cmpd="sng">
            <a:solidFill>
              <a:schemeClr val="tx1">
                <a:alpha val="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36000" rIns="36000" rtlCol="0" anchor="t" anchorCtr="0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 err="1" smtClean="0"/>
              <a:t>Kerak</a:t>
            </a:r>
            <a:r>
              <a:rPr lang="en-US" sz="1200" dirty="0" smtClean="0"/>
              <a:t> &amp; </a:t>
            </a:r>
            <a:r>
              <a:rPr lang="en-US" sz="1200" dirty="0" err="1" smtClean="0"/>
              <a:t>Lumut</a:t>
            </a:r>
            <a:r>
              <a:rPr lang="en-US" sz="1200" dirty="0" smtClean="0"/>
              <a:t> di </a:t>
            </a:r>
            <a:r>
              <a:rPr lang="en-US" sz="1200" dirty="0" err="1" smtClean="0"/>
              <a:t>dinding</a:t>
            </a:r>
            <a:r>
              <a:rPr lang="en-US" sz="1200" dirty="0" smtClean="0"/>
              <a:t> </a:t>
            </a:r>
            <a:r>
              <a:rPr lang="en-US" sz="1200" dirty="0" err="1" smtClean="0"/>
              <a:t>bak</a:t>
            </a:r>
            <a:endParaRPr lang="en-US" sz="1200" dirty="0" smtClean="0"/>
          </a:p>
        </p:txBody>
      </p:sp>
      <p:sp>
        <p:nvSpPr>
          <p:cNvPr id="43" name="TextBox 64"/>
          <p:cNvSpPr txBox="1"/>
          <p:nvPr/>
        </p:nvSpPr>
        <p:spPr>
          <a:xfrm>
            <a:off x="401754" y="6477000"/>
            <a:ext cx="2417648" cy="245353"/>
          </a:xfrm>
          <a:prstGeom prst="rect">
            <a:avLst/>
          </a:prstGeom>
          <a:solidFill>
            <a:schemeClr val="bg1"/>
          </a:solidFill>
          <a:ln w="9525" cmpd="sng">
            <a:solidFill>
              <a:schemeClr val="tx1">
                <a:alpha val="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36000" rIns="36000" rtlCol="0" anchor="t" anchorCtr="0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 smtClean="0"/>
              <a:t>TDS air </a:t>
            </a:r>
            <a:r>
              <a:rPr lang="en-US" sz="1200" dirty="0" err="1" smtClean="0"/>
              <a:t>tinggi</a:t>
            </a:r>
            <a:r>
              <a:rPr lang="en-US" sz="1200" dirty="0" smtClean="0"/>
              <a:t>, rata-rata 1.446 mg/L</a:t>
            </a:r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973"/>
          <a:stretch/>
        </p:blipFill>
        <p:spPr>
          <a:xfrm>
            <a:off x="3287882" y="5867400"/>
            <a:ext cx="1624638" cy="822320"/>
          </a:xfrm>
          <a:prstGeom prst="rect">
            <a:avLst/>
          </a:prstGeom>
        </p:spPr>
      </p:pic>
      <p:sp>
        <p:nvSpPr>
          <p:cNvPr id="40" name="TextBox 64"/>
          <p:cNvSpPr txBox="1"/>
          <p:nvPr/>
        </p:nvSpPr>
        <p:spPr>
          <a:xfrm>
            <a:off x="3124200" y="6477000"/>
            <a:ext cx="2109007" cy="237479"/>
          </a:xfrm>
          <a:prstGeom prst="rect">
            <a:avLst/>
          </a:prstGeom>
          <a:solidFill>
            <a:schemeClr val="bg1"/>
          </a:solidFill>
          <a:ln w="9525" cmpd="sng">
            <a:solidFill>
              <a:schemeClr val="tx1">
                <a:alpha val="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36000" rIns="36000" rtlCol="0" anchor="t" anchorCtr="0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 err="1" smtClean="0"/>
              <a:t>Kerak</a:t>
            </a:r>
            <a:r>
              <a:rPr lang="en-US" sz="1200" dirty="0" smtClean="0"/>
              <a:t> </a:t>
            </a:r>
            <a:r>
              <a:rPr lang="en-US" sz="1200" dirty="0" err="1" smtClean="0"/>
              <a:t>mengeras</a:t>
            </a:r>
            <a:r>
              <a:rPr lang="en-US" sz="1200" dirty="0" smtClean="0"/>
              <a:t> di filler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895599" y="5736595"/>
            <a:ext cx="267643" cy="28320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6573" y="5257800"/>
            <a:ext cx="2471223" cy="120327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object 2"/>
          <p:cNvGrpSpPr/>
          <p:nvPr/>
        </p:nvGrpSpPr>
        <p:grpSpPr>
          <a:xfrm>
            <a:off x="761" y="336804"/>
            <a:ext cx="12189460" cy="6445250"/>
            <a:chOff x="761" y="336804"/>
            <a:chExt cx="12189460" cy="6445250"/>
          </a:xfrm>
        </p:grpSpPr>
        <p:sp>
          <p:nvSpPr>
            <p:cNvPr id="1048646" name="object 3"/>
            <p:cNvSpPr/>
            <p:nvPr/>
          </p:nvSpPr>
          <p:spPr>
            <a:xfrm>
              <a:off x="57911" y="419100"/>
              <a:ext cx="12077700" cy="6356985"/>
            </a:xfrm>
            <a:custGeom>
              <a:avLst/>
              <a:gdLst/>
              <a:ahLst/>
              <a:cxnLst/>
              <a:rect l="l" t="t" r="r" b="b"/>
              <a:pathLst>
                <a:path w="12077700" h="6356984">
                  <a:moveTo>
                    <a:pt x="0" y="6356604"/>
                  </a:moveTo>
                  <a:lnTo>
                    <a:pt x="12077700" y="6356604"/>
                  </a:lnTo>
                  <a:lnTo>
                    <a:pt x="12077700" y="0"/>
                  </a:lnTo>
                  <a:lnTo>
                    <a:pt x="0" y="0"/>
                  </a:lnTo>
                  <a:lnTo>
                    <a:pt x="0" y="6356604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8647" name="object 4"/>
            <p:cNvSpPr/>
            <p:nvPr/>
          </p:nvSpPr>
          <p:spPr>
            <a:xfrm>
              <a:off x="761" y="355854"/>
              <a:ext cx="12189460" cy="0"/>
            </a:xfrm>
            <a:custGeom>
              <a:avLst/>
              <a:gdLst/>
              <a:ahLst/>
              <a:cxnLst/>
              <a:rect l="l" t="t" r="r" b="b"/>
              <a:pathLst>
                <a:path w="12189460">
                  <a:moveTo>
                    <a:pt x="0" y="0"/>
                  </a:moveTo>
                  <a:lnTo>
                    <a:pt x="12188952" y="0"/>
                  </a:lnTo>
                </a:path>
              </a:pathLst>
            </a:custGeom>
            <a:ln w="38100">
              <a:solidFill>
                <a:srgbClr val="00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48648" name="object 5"/>
          <p:cNvSpPr/>
          <p:nvPr/>
        </p:nvSpPr>
        <p:spPr>
          <a:xfrm>
            <a:off x="0" y="0"/>
            <a:ext cx="166370" cy="361315"/>
          </a:xfrm>
          <a:custGeom>
            <a:avLst/>
            <a:gdLst/>
            <a:ahLst/>
            <a:cxnLst/>
            <a:rect l="l" t="t" r="r" b="b"/>
            <a:pathLst>
              <a:path w="166370" h="361315">
                <a:moveTo>
                  <a:pt x="0" y="361188"/>
                </a:moveTo>
                <a:lnTo>
                  <a:pt x="166116" y="361188"/>
                </a:lnTo>
                <a:lnTo>
                  <a:pt x="166116" y="0"/>
                </a:lnTo>
                <a:lnTo>
                  <a:pt x="0" y="0"/>
                </a:lnTo>
                <a:lnTo>
                  <a:pt x="0" y="361188"/>
                </a:lnTo>
                <a:close/>
              </a:path>
            </a:pathLst>
          </a:custGeom>
          <a:solidFill>
            <a:srgbClr val="5163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649" name="object 6"/>
          <p:cNvSpPr txBox="1">
            <a:spLocks noGrp="1"/>
          </p:cNvSpPr>
          <p:nvPr>
            <p:ph type="title"/>
          </p:nvPr>
        </p:nvSpPr>
        <p:spPr>
          <a:xfrm>
            <a:off x="207975" y="9525"/>
            <a:ext cx="20643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spc="-155" dirty="0" smtClean="0">
                <a:solidFill>
                  <a:srgbClr val="51637D"/>
                </a:solidFill>
              </a:rPr>
              <a:t>Schedule</a:t>
            </a:r>
            <a:endParaRPr sz="2400" dirty="0"/>
          </a:p>
        </p:txBody>
      </p:sp>
      <p:grpSp>
        <p:nvGrpSpPr>
          <p:cNvPr id="34" name="Group 16"/>
          <p:cNvGrpSpPr/>
          <p:nvPr/>
        </p:nvGrpSpPr>
        <p:grpSpPr>
          <a:xfrm>
            <a:off x="8578215" y="15240"/>
            <a:ext cx="3613785" cy="338455"/>
            <a:chOff x="8578215" y="15240"/>
            <a:chExt cx="3613785" cy="338455"/>
          </a:xfrm>
        </p:grpSpPr>
        <p:sp>
          <p:nvSpPr>
            <p:cNvPr id="1048650" name="object 21"/>
            <p:cNvSpPr/>
            <p:nvPr/>
          </p:nvSpPr>
          <p:spPr>
            <a:xfrm>
              <a:off x="8578215" y="15240"/>
              <a:ext cx="3613785" cy="338455"/>
            </a:xfrm>
            <a:custGeom>
              <a:avLst/>
              <a:gdLst/>
              <a:ahLst/>
              <a:cxnLst/>
              <a:rect l="l" t="t" r="r" b="b"/>
              <a:pathLst>
                <a:path w="3613784" h="338455">
                  <a:moveTo>
                    <a:pt x="3613404" y="0"/>
                  </a:moveTo>
                  <a:lnTo>
                    <a:pt x="0" y="0"/>
                  </a:lnTo>
                  <a:lnTo>
                    <a:pt x="0" y="338327"/>
                  </a:lnTo>
                  <a:lnTo>
                    <a:pt x="3613404" y="338327"/>
                  </a:lnTo>
                  <a:lnTo>
                    <a:pt x="3613404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8651" name="object 22"/>
            <p:cNvSpPr txBox="1"/>
            <p:nvPr/>
          </p:nvSpPr>
          <p:spPr>
            <a:xfrm>
              <a:off x="8674989" y="36067"/>
              <a:ext cx="3275329" cy="258404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600" b="1" dirty="0" smtClean="0">
                  <a:solidFill>
                    <a:srgbClr val="FFFFFF"/>
                  </a:solidFill>
                  <a:latin typeface="Calibri"/>
                  <a:cs typeface="Calibri"/>
                </a:rPr>
                <a:t>Supporting </a:t>
              </a:r>
              <a:r>
                <a:rPr sz="1600" b="1" dirty="0">
                  <a:solidFill>
                    <a:srgbClr val="FFFFFF"/>
                  </a:solidFill>
                  <a:latin typeface="Calibri"/>
                  <a:cs typeface="Calibri"/>
                </a:rPr>
                <a:t>/</a:t>
              </a:r>
              <a:r>
                <a:rPr sz="1600" b="1" spc="-50" dirty="0">
                  <a:solidFill>
                    <a:srgbClr val="FFFFFF"/>
                  </a:solidFill>
                  <a:latin typeface="Calibri"/>
                  <a:cs typeface="Calibri"/>
                </a:rPr>
                <a:t> </a:t>
              </a:r>
              <a:r>
                <a:rPr sz="1600" b="1" dirty="0">
                  <a:solidFill>
                    <a:srgbClr val="FFFFFF"/>
                  </a:solidFill>
                  <a:latin typeface="Calibri"/>
                  <a:cs typeface="Calibri"/>
                </a:rPr>
                <a:t>Capex</a:t>
              </a:r>
              <a:r>
                <a:rPr sz="1600" b="1" spc="-30" dirty="0">
                  <a:solidFill>
                    <a:srgbClr val="FFFFFF"/>
                  </a:solidFill>
                  <a:latin typeface="Calibri"/>
                  <a:cs typeface="Calibri"/>
                </a:rPr>
                <a:t> </a:t>
              </a:r>
              <a:r>
                <a:rPr sz="1600" b="1" dirty="0">
                  <a:solidFill>
                    <a:srgbClr val="FFFFFF"/>
                  </a:solidFill>
                  <a:latin typeface="Calibri"/>
                  <a:cs typeface="Calibri"/>
                </a:rPr>
                <a:t>Non</a:t>
              </a:r>
              <a:r>
                <a:rPr sz="1600" b="1" spc="-55" dirty="0">
                  <a:solidFill>
                    <a:srgbClr val="FFFFFF"/>
                  </a:solidFill>
                  <a:latin typeface="Calibri"/>
                  <a:cs typeface="Calibri"/>
                </a:rPr>
                <a:t> </a:t>
              </a:r>
              <a:r>
                <a:rPr sz="1600" b="1" spc="-25" dirty="0">
                  <a:solidFill>
                    <a:srgbClr val="FFFFFF"/>
                  </a:solidFill>
                  <a:latin typeface="Calibri"/>
                  <a:cs typeface="Calibri"/>
                </a:rPr>
                <a:t>FS</a:t>
              </a:r>
              <a:endParaRPr sz="1600" dirty="0">
                <a:latin typeface="Calibri"/>
                <a:cs typeface="Calibri"/>
              </a:endParaRPr>
            </a:p>
          </p:txBody>
        </p:sp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98" y="609600"/>
            <a:ext cx="11565702" cy="2971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9" name="object 2"/>
          <p:cNvSpPr txBox="1"/>
          <p:nvPr/>
        </p:nvSpPr>
        <p:spPr>
          <a:xfrm>
            <a:off x="11739118" y="6517919"/>
            <a:ext cx="155575" cy="289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0"/>
              </a:lnSpc>
            </a:pPr>
            <a:r>
              <a:rPr sz="1200" spc="-25" dirty="0">
                <a:latin typeface="Calibri"/>
                <a:cs typeface="Calibri"/>
              </a:rPr>
              <a:t>38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48630" name="object 3"/>
          <p:cNvSpPr/>
          <p:nvPr/>
        </p:nvSpPr>
        <p:spPr>
          <a:xfrm>
            <a:off x="8215883" y="6160008"/>
            <a:ext cx="3976370" cy="698500"/>
          </a:xfrm>
          <a:custGeom>
            <a:avLst/>
            <a:gdLst/>
            <a:ahLst/>
            <a:cxnLst/>
            <a:rect l="l" t="t" r="r" b="b"/>
            <a:pathLst>
              <a:path w="3976370" h="698500">
                <a:moveTo>
                  <a:pt x="3976116" y="0"/>
                </a:moveTo>
                <a:lnTo>
                  <a:pt x="0" y="0"/>
                </a:lnTo>
                <a:lnTo>
                  <a:pt x="0" y="697988"/>
                </a:lnTo>
                <a:lnTo>
                  <a:pt x="3976116" y="697988"/>
                </a:lnTo>
                <a:lnTo>
                  <a:pt x="3976116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8" name="object 4"/>
          <p:cNvGrpSpPr/>
          <p:nvPr/>
        </p:nvGrpSpPr>
        <p:grpSpPr>
          <a:xfrm>
            <a:off x="7620000" y="595883"/>
            <a:ext cx="4572000" cy="5564505"/>
            <a:chOff x="7620000" y="595883"/>
            <a:chExt cx="4572000" cy="5564505"/>
          </a:xfrm>
        </p:grpSpPr>
        <p:pic>
          <p:nvPicPr>
            <p:cNvPr id="2097163" name="object 5"/>
            <p:cNvPicPr>
              <a:picLocks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88297" y="610412"/>
              <a:ext cx="4103702" cy="4110939"/>
            </a:xfrm>
            <a:prstGeom prst="rect">
              <a:avLst/>
            </a:prstGeom>
          </p:spPr>
        </p:pic>
        <p:pic>
          <p:nvPicPr>
            <p:cNvPr id="2097164" name="object 6"/>
            <p:cNvPicPr>
              <a:picLocks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20000" y="4360163"/>
              <a:ext cx="4122420" cy="1618488"/>
            </a:xfrm>
            <a:prstGeom prst="rect">
              <a:avLst/>
            </a:prstGeom>
          </p:spPr>
        </p:pic>
        <p:pic>
          <p:nvPicPr>
            <p:cNvPr id="2097165" name="object 7"/>
            <p:cNvPicPr>
              <a:picLocks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22563" y="970787"/>
              <a:ext cx="1171955" cy="1191768"/>
            </a:xfrm>
            <a:prstGeom prst="rect">
              <a:avLst/>
            </a:prstGeom>
          </p:spPr>
        </p:pic>
        <p:pic>
          <p:nvPicPr>
            <p:cNvPr id="2097166" name="object 8"/>
            <p:cNvPicPr>
              <a:picLocks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60051" y="4867655"/>
              <a:ext cx="1106424" cy="1292352"/>
            </a:xfrm>
            <a:prstGeom prst="rect">
              <a:avLst/>
            </a:prstGeom>
          </p:spPr>
        </p:pic>
        <p:pic>
          <p:nvPicPr>
            <p:cNvPr id="2097167" name="object 9"/>
            <p:cNvPicPr>
              <a:picLocks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098536" y="1941575"/>
              <a:ext cx="940307" cy="1210056"/>
            </a:xfrm>
            <a:prstGeom prst="rect">
              <a:avLst/>
            </a:prstGeom>
          </p:spPr>
        </p:pic>
        <p:pic>
          <p:nvPicPr>
            <p:cNvPr id="2097168" name="object 10"/>
            <p:cNvPicPr>
              <a:picLocks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416795" y="595883"/>
              <a:ext cx="815340" cy="873251"/>
            </a:xfrm>
            <a:prstGeom prst="rect">
              <a:avLst/>
            </a:prstGeom>
          </p:spPr>
        </p:pic>
        <p:pic>
          <p:nvPicPr>
            <p:cNvPr id="2097169" name="object 11"/>
            <p:cNvPicPr>
              <a:picLocks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375392" y="4082795"/>
              <a:ext cx="1104900" cy="1266443"/>
            </a:xfrm>
            <a:prstGeom prst="rect">
              <a:avLst/>
            </a:prstGeom>
          </p:spPr>
        </p:pic>
        <p:pic>
          <p:nvPicPr>
            <p:cNvPr id="2097170" name="object 12"/>
            <p:cNvPicPr>
              <a:picLocks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982455" y="1597151"/>
              <a:ext cx="938783" cy="1088136"/>
            </a:xfrm>
            <a:prstGeom prst="rect">
              <a:avLst/>
            </a:prstGeom>
          </p:spPr>
        </p:pic>
      </p:grpSp>
      <p:pic>
        <p:nvPicPr>
          <p:cNvPr id="2097171" name="object 13"/>
          <p:cNvPicPr>
            <a:picLocks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306859" y="455676"/>
            <a:ext cx="2251400" cy="458724"/>
          </a:xfrm>
          <a:prstGeom prst="rect">
            <a:avLst/>
          </a:prstGeom>
        </p:spPr>
      </p:pic>
      <p:sp>
        <p:nvSpPr>
          <p:cNvPr id="1048631" name="object 14"/>
          <p:cNvSpPr/>
          <p:nvPr/>
        </p:nvSpPr>
        <p:spPr>
          <a:xfrm>
            <a:off x="0" y="0"/>
            <a:ext cx="2932430" cy="403860"/>
          </a:xfrm>
          <a:custGeom>
            <a:avLst/>
            <a:gdLst/>
            <a:ahLst/>
            <a:cxnLst/>
            <a:rect l="l" t="t" r="r" b="b"/>
            <a:pathLst>
              <a:path w="2932430" h="403860">
                <a:moveTo>
                  <a:pt x="0" y="403860"/>
                </a:moveTo>
                <a:lnTo>
                  <a:pt x="2932176" y="403860"/>
                </a:lnTo>
                <a:lnTo>
                  <a:pt x="2932176" y="0"/>
                </a:lnTo>
                <a:lnTo>
                  <a:pt x="0" y="0"/>
                </a:lnTo>
                <a:lnTo>
                  <a:pt x="0" y="40386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97172" name="object 15"/>
          <p:cNvPicPr>
            <a:picLocks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11128254" y="95943"/>
            <a:ext cx="785675" cy="373516"/>
          </a:xfrm>
          <a:prstGeom prst="rect">
            <a:avLst/>
          </a:prstGeom>
        </p:spPr>
      </p:pic>
      <p:grpSp>
        <p:nvGrpSpPr>
          <p:cNvPr id="29" name="object 16"/>
          <p:cNvGrpSpPr/>
          <p:nvPr/>
        </p:nvGrpSpPr>
        <p:grpSpPr>
          <a:xfrm>
            <a:off x="4175759" y="531876"/>
            <a:ext cx="6876415" cy="109855"/>
            <a:chOff x="4175759" y="531876"/>
            <a:chExt cx="6876415" cy="109855"/>
          </a:xfrm>
        </p:grpSpPr>
        <p:sp>
          <p:nvSpPr>
            <p:cNvPr id="1048632" name="object 17"/>
            <p:cNvSpPr/>
            <p:nvPr/>
          </p:nvSpPr>
          <p:spPr>
            <a:xfrm>
              <a:off x="4175759" y="556260"/>
              <a:ext cx="1725295" cy="59690"/>
            </a:xfrm>
            <a:custGeom>
              <a:avLst/>
              <a:gdLst/>
              <a:ahLst/>
              <a:cxnLst/>
              <a:rect l="l" t="t" r="r" b="b"/>
              <a:pathLst>
                <a:path w="1725295" h="59690">
                  <a:moveTo>
                    <a:pt x="1725167" y="0"/>
                  </a:moveTo>
                  <a:lnTo>
                    <a:pt x="0" y="0"/>
                  </a:lnTo>
                  <a:lnTo>
                    <a:pt x="0" y="59436"/>
                  </a:lnTo>
                  <a:lnTo>
                    <a:pt x="1725167" y="59436"/>
                  </a:lnTo>
                  <a:lnTo>
                    <a:pt x="1725167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8633" name="object 18"/>
            <p:cNvSpPr/>
            <p:nvPr/>
          </p:nvSpPr>
          <p:spPr>
            <a:xfrm>
              <a:off x="5882639" y="556260"/>
              <a:ext cx="1725295" cy="58419"/>
            </a:xfrm>
            <a:custGeom>
              <a:avLst/>
              <a:gdLst/>
              <a:ahLst/>
              <a:cxnLst/>
              <a:rect l="l" t="t" r="r" b="b"/>
              <a:pathLst>
                <a:path w="1725295" h="58420">
                  <a:moveTo>
                    <a:pt x="1725167" y="0"/>
                  </a:moveTo>
                  <a:lnTo>
                    <a:pt x="0" y="0"/>
                  </a:lnTo>
                  <a:lnTo>
                    <a:pt x="0" y="57912"/>
                  </a:lnTo>
                  <a:lnTo>
                    <a:pt x="1725167" y="57912"/>
                  </a:lnTo>
                  <a:lnTo>
                    <a:pt x="1725167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8634" name="object 19"/>
            <p:cNvSpPr/>
            <p:nvPr/>
          </p:nvSpPr>
          <p:spPr>
            <a:xfrm>
              <a:off x="7607807" y="556260"/>
              <a:ext cx="1725295" cy="58419"/>
            </a:xfrm>
            <a:custGeom>
              <a:avLst/>
              <a:gdLst/>
              <a:ahLst/>
              <a:cxnLst/>
              <a:rect l="l" t="t" r="r" b="b"/>
              <a:pathLst>
                <a:path w="1725295" h="58420">
                  <a:moveTo>
                    <a:pt x="1725168" y="0"/>
                  </a:moveTo>
                  <a:lnTo>
                    <a:pt x="0" y="0"/>
                  </a:lnTo>
                  <a:lnTo>
                    <a:pt x="0" y="57912"/>
                  </a:lnTo>
                  <a:lnTo>
                    <a:pt x="1725168" y="57912"/>
                  </a:lnTo>
                  <a:lnTo>
                    <a:pt x="1725168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8635" name="object 20"/>
            <p:cNvSpPr/>
            <p:nvPr/>
          </p:nvSpPr>
          <p:spPr>
            <a:xfrm>
              <a:off x="9326879" y="531876"/>
              <a:ext cx="1725295" cy="109855"/>
            </a:xfrm>
            <a:custGeom>
              <a:avLst/>
              <a:gdLst/>
              <a:ahLst/>
              <a:cxnLst/>
              <a:rect l="l" t="t" r="r" b="b"/>
              <a:pathLst>
                <a:path w="1725295" h="109854">
                  <a:moveTo>
                    <a:pt x="1670303" y="0"/>
                  </a:moveTo>
                  <a:lnTo>
                    <a:pt x="1670303" y="27432"/>
                  </a:lnTo>
                  <a:lnTo>
                    <a:pt x="0" y="27432"/>
                  </a:lnTo>
                  <a:lnTo>
                    <a:pt x="0" y="82296"/>
                  </a:lnTo>
                  <a:lnTo>
                    <a:pt x="1670303" y="82296"/>
                  </a:lnTo>
                  <a:lnTo>
                    <a:pt x="1670303" y="109727"/>
                  </a:lnTo>
                  <a:lnTo>
                    <a:pt x="1725168" y="54863"/>
                  </a:lnTo>
                  <a:lnTo>
                    <a:pt x="1670303" y="0"/>
                  </a:lnTo>
                  <a:close/>
                </a:path>
              </a:pathLst>
            </a:custGeom>
            <a:solidFill>
              <a:srgbClr val="339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48636" name="object 21"/>
          <p:cNvSpPr txBox="1">
            <a:spLocks noGrp="1"/>
          </p:cNvSpPr>
          <p:nvPr>
            <p:ph type="title"/>
          </p:nvPr>
        </p:nvSpPr>
        <p:spPr>
          <a:xfrm>
            <a:off x="3012185" y="2981959"/>
            <a:ext cx="1985010" cy="1130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solidFill>
                  <a:srgbClr val="212A35"/>
                </a:solidFill>
                <a:latin typeface="Calibri"/>
                <a:cs typeface="Calibri"/>
              </a:rPr>
              <a:t>Thank</a:t>
            </a:r>
            <a:r>
              <a:rPr sz="3600" b="1" spc="-90" dirty="0">
                <a:solidFill>
                  <a:srgbClr val="212A35"/>
                </a:solidFill>
                <a:latin typeface="Calibri"/>
                <a:cs typeface="Calibri"/>
              </a:rPr>
              <a:t> </a:t>
            </a:r>
            <a:r>
              <a:rPr sz="3600" b="1" spc="-60" dirty="0">
                <a:solidFill>
                  <a:srgbClr val="212A35"/>
                </a:solidFill>
                <a:latin typeface="Calibri"/>
                <a:cs typeface="Calibri"/>
              </a:rPr>
              <a:t>You</a:t>
            </a:r>
            <a:endParaRPr sz="36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object 4"/>
          <p:cNvSpPr/>
          <p:nvPr/>
        </p:nvSpPr>
        <p:spPr>
          <a:xfrm>
            <a:off x="57911" y="419100"/>
            <a:ext cx="12077700" cy="6356985"/>
          </a:xfrm>
          <a:custGeom>
            <a:avLst/>
            <a:gdLst/>
            <a:ahLst/>
            <a:cxnLst/>
            <a:rect l="l" t="t" r="r" b="b"/>
            <a:pathLst>
              <a:path w="12077700" h="6356984">
                <a:moveTo>
                  <a:pt x="0" y="6356604"/>
                </a:moveTo>
                <a:lnTo>
                  <a:pt x="12077700" y="6356604"/>
                </a:lnTo>
                <a:lnTo>
                  <a:pt x="12077700" y="0"/>
                </a:lnTo>
                <a:lnTo>
                  <a:pt x="0" y="0"/>
                </a:lnTo>
                <a:lnTo>
                  <a:pt x="0" y="6356604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638" name="object 3"/>
          <p:cNvSpPr/>
          <p:nvPr/>
        </p:nvSpPr>
        <p:spPr>
          <a:xfrm>
            <a:off x="0" y="0"/>
            <a:ext cx="166370" cy="361315"/>
          </a:xfrm>
          <a:custGeom>
            <a:avLst/>
            <a:gdLst/>
            <a:ahLst/>
            <a:cxnLst/>
            <a:rect l="l" t="t" r="r" b="b"/>
            <a:pathLst>
              <a:path w="166370" h="361315">
                <a:moveTo>
                  <a:pt x="0" y="361188"/>
                </a:moveTo>
                <a:lnTo>
                  <a:pt x="166116" y="361188"/>
                </a:lnTo>
                <a:lnTo>
                  <a:pt x="166116" y="0"/>
                </a:lnTo>
                <a:lnTo>
                  <a:pt x="0" y="0"/>
                </a:lnTo>
                <a:lnTo>
                  <a:pt x="0" y="361188"/>
                </a:lnTo>
                <a:close/>
              </a:path>
            </a:pathLst>
          </a:custGeom>
          <a:solidFill>
            <a:srgbClr val="5163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639" name="object 4"/>
          <p:cNvSpPr txBox="1">
            <a:spLocks noGrp="1"/>
          </p:cNvSpPr>
          <p:nvPr>
            <p:ph type="title"/>
          </p:nvPr>
        </p:nvSpPr>
        <p:spPr>
          <a:xfrm>
            <a:off x="207975" y="-30403"/>
            <a:ext cx="2868655" cy="381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2400" spc="-180" dirty="0">
                <a:solidFill>
                  <a:srgbClr val="51637D"/>
                </a:solidFill>
              </a:rPr>
              <a:t>BACKGROUND</a:t>
            </a:r>
            <a:endParaRPr sz="2400"/>
          </a:p>
        </p:txBody>
      </p:sp>
      <p:sp>
        <p:nvSpPr>
          <p:cNvPr id="1048640" name="object 6"/>
          <p:cNvSpPr/>
          <p:nvPr/>
        </p:nvSpPr>
        <p:spPr>
          <a:xfrm>
            <a:off x="-2147399067" y="361949"/>
            <a:ext cx="0" cy="252077"/>
          </a:xfrm>
          <a:custGeom>
            <a:avLst/>
            <a:gdLst/>
            <a:ahLst/>
            <a:cxnLst/>
            <a:rect l="l" t="t" r="r" b="b"/>
            <a:pathLst>
              <a:path w="12108815">
                <a:moveTo>
                  <a:pt x="0" y="0"/>
                </a:moveTo>
                <a:lnTo>
                  <a:pt x="12108815" y="0"/>
                </a:lnTo>
              </a:path>
            </a:pathLst>
          </a:custGeom>
          <a:ln w="19812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1" name="Group 11"/>
          <p:cNvGrpSpPr/>
          <p:nvPr/>
        </p:nvGrpSpPr>
        <p:grpSpPr>
          <a:xfrm>
            <a:off x="8578215" y="0"/>
            <a:ext cx="3613785" cy="338455"/>
            <a:chOff x="8505443" y="15240"/>
            <a:chExt cx="3613785" cy="338455"/>
          </a:xfrm>
        </p:grpSpPr>
        <p:sp>
          <p:nvSpPr>
            <p:cNvPr id="1048641" name="object 40"/>
            <p:cNvSpPr/>
            <p:nvPr/>
          </p:nvSpPr>
          <p:spPr>
            <a:xfrm>
              <a:off x="8505443" y="15240"/>
              <a:ext cx="3613785" cy="338455"/>
            </a:xfrm>
            <a:custGeom>
              <a:avLst/>
              <a:gdLst/>
              <a:ahLst/>
              <a:cxnLst/>
              <a:rect l="l" t="t" r="r" b="b"/>
              <a:pathLst>
                <a:path w="3613784" h="338455">
                  <a:moveTo>
                    <a:pt x="3613404" y="0"/>
                  </a:moveTo>
                  <a:lnTo>
                    <a:pt x="0" y="0"/>
                  </a:lnTo>
                  <a:lnTo>
                    <a:pt x="0" y="338327"/>
                  </a:lnTo>
                  <a:lnTo>
                    <a:pt x="3613404" y="338327"/>
                  </a:lnTo>
                  <a:lnTo>
                    <a:pt x="3613404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8642" name="object 45"/>
            <p:cNvSpPr txBox="1"/>
            <p:nvPr/>
          </p:nvSpPr>
          <p:spPr>
            <a:xfrm>
              <a:off x="8674989" y="36067"/>
              <a:ext cx="3275329" cy="258404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600" b="1" dirty="0" smtClean="0">
                  <a:solidFill>
                    <a:srgbClr val="FFFFFF"/>
                  </a:solidFill>
                  <a:latin typeface="Calibri"/>
                  <a:cs typeface="Calibri"/>
                </a:rPr>
                <a:t>Supporting </a:t>
              </a:r>
              <a:r>
                <a:rPr sz="1600" b="1" dirty="0">
                  <a:solidFill>
                    <a:srgbClr val="FFFFFF"/>
                  </a:solidFill>
                  <a:latin typeface="Calibri"/>
                  <a:cs typeface="Calibri"/>
                </a:rPr>
                <a:t>/</a:t>
              </a:r>
              <a:r>
                <a:rPr sz="1600" b="1" spc="-50" dirty="0">
                  <a:solidFill>
                    <a:srgbClr val="FFFFFF"/>
                  </a:solidFill>
                  <a:latin typeface="Calibri"/>
                  <a:cs typeface="Calibri"/>
                </a:rPr>
                <a:t> </a:t>
              </a:r>
              <a:r>
                <a:rPr sz="1600" b="1" dirty="0">
                  <a:solidFill>
                    <a:srgbClr val="FFFFFF"/>
                  </a:solidFill>
                  <a:latin typeface="Calibri"/>
                  <a:cs typeface="Calibri"/>
                </a:rPr>
                <a:t>Capex</a:t>
              </a:r>
              <a:r>
                <a:rPr sz="1600" b="1" spc="-30" dirty="0">
                  <a:solidFill>
                    <a:srgbClr val="FFFFFF"/>
                  </a:solidFill>
                  <a:latin typeface="Calibri"/>
                  <a:cs typeface="Calibri"/>
                </a:rPr>
                <a:t> </a:t>
              </a:r>
              <a:r>
                <a:rPr sz="1600" b="1" dirty="0">
                  <a:solidFill>
                    <a:srgbClr val="FFFFFF"/>
                  </a:solidFill>
                  <a:latin typeface="Calibri"/>
                  <a:cs typeface="Calibri"/>
                </a:rPr>
                <a:t>Non</a:t>
              </a:r>
              <a:r>
                <a:rPr sz="1600" b="1" spc="-55" dirty="0">
                  <a:solidFill>
                    <a:srgbClr val="FFFFFF"/>
                  </a:solidFill>
                  <a:latin typeface="Calibri"/>
                  <a:cs typeface="Calibri"/>
                </a:rPr>
                <a:t> </a:t>
              </a:r>
              <a:r>
                <a:rPr sz="1600" b="1" spc="-25" dirty="0">
                  <a:solidFill>
                    <a:srgbClr val="FFFFFF"/>
                  </a:solidFill>
                  <a:latin typeface="Calibri"/>
                  <a:cs typeface="Calibri"/>
                </a:rPr>
                <a:t>FS</a:t>
              </a:r>
              <a:endParaRPr sz="1600" dirty="0">
                <a:latin typeface="Calibri"/>
                <a:cs typeface="Calibri"/>
              </a:endParaRPr>
            </a:p>
          </p:txBody>
        </p:sp>
      </p:grp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1201400" cy="56388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7617" y="2669085"/>
            <a:ext cx="2106383" cy="2817315"/>
          </a:xfrm>
          <a:prstGeom prst="rect">
            <a:avLst/>
          </a:prstGeom>
        </p:spPr>
      </p:pic>
      <p:sp>
        <p:nvSpPr>
          <p:cNvPr id="14" name="Oval 13"/>
          <p:cNvSpPr/>
          <p:nvPr/>
        </p:nvSpPr>
        <p:spPr>
          <a:xfrm>
            <a:off x="3505200" y="4419600"/>
            <a:ext cx="222250" cy="4635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4038600" y="3124200"/>
            <a:ext cx="107950" cy="29237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6" name="object 31"/>
          <p:cNvSpPr txBox="1">
            <a:spLocks/>
          </p:cNvSpPr>
          <p:nvPr/>
        </p:nvSpPr>
        <p:spPr>
          <a:xfrm>
            <a:off x="235710" y="487987"/>
            <a:ext cx="4412489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Franklin Gothic Medium"/>
                <a:ea typeface="+mj-ea"/>
                <a:cs typeface="Franklin Gothic Medium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en-US" spc="-120" dirty="0" smtClean="0"/>
              <a:t>History </a:t>
            </a:r>
            <a:r>
              <a:rPr lang="en-US" spc="-120" dirty="0" err="1" smtClean="0"/>
              <a:t>Pipa</a:t>
            </a:r>
            <a:r>
              <a:rPr lang="en-US" spc="-120" dirty="0" smtClean="0"/>
              <a:t> Inlet </a:t>
            </a:r>
            <a:r>
              <a:rPr lang="en-US" spc="-120" dirty="0" err="1" smtClean="0"/>
              <a:t>Pompa</a:t>
            </a:r>
            <a:r>
              <a:rPr lang="en-US" spc="-120" dirty="0" smtClean="0"/>
              <a:t> Cooling Tower 1</a:t>
            </a:r>
            <a:endParaRPr lang="en-US" spc="-1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object 4"/>
          <p:cNvSpPr/>
          <p:nvPr/>
        </p:nvSpPr>
        <p:spPr>
          <a:xfrm>
            <a:off x="57911" y="419100"/>
            <a:ext cx="12077700" cy="6356985"/>
          </a:xfrm>
          <a:custGeom>
            <a:avLst/>
            <a:gdLst/>
            <a:ahLst/>
            <a:cxnLst/>
            <a:rect l="l" t="t" r="r" b="b"/>
            <a:pathLst>
              <a:path w="12077700" h="6356984">
                <a:moveTo>
                  <a:pt x="0" y="6356604"/>
                </a:moveTo>
                <a:lnTo>
                  <a:pt x="12077700" y="6356604"/>
                </a:lnTo>
                <a:lnTo>
                  <a:pt x="12077700" y="0"/>
                </a:lnTo>
                <a:lnTo>
                  <a:pt x="0" y="0"/>
                </a:lnTo>
                <a:lnTo>
                  <a:pt x="0" y="6356604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638" name="object 3"/>
          <p:cNvSpPr/>
          <p:nvPr/>
        </p:nvSpPr>
        <p:spPr>
          <a:xfrm>
            <a:off x="0" y="0"/>
            <a:ext cx="166370" cy="361315"/>
          </a:xfrm>
          <a:custGeom>
            <a:avLst/>
            <a:gdLst/>
            <a:ahLst/>
            <a:cxnLst/>
            <a:rect l="l" t="t" r="r" b="b"/>
            <a:pathLst>
              <a:path w="166370" h="361315">
                <a:moveTo>
                  <a:pt x="0" y="361188"/>
                </a:moveTo>
                <a:lnTo>
                  <a:pt x="166116" y="361188"/>
                </a:lnTo>
                <a:lnTo>
                  <a:pt x="166116" y="0"/>
                </a:lnTo>
                <a:lnTo>
                  <a:pt x="0" y="0"/>
                </a:lnTo>
                <a:lnTo>
                  <a:pt x="0" y="361188"/>
                </a:lnTo>
                <a:close/>
              </a:path>
            </a:pathLst>
          </a:custGeom>
          <a:solidFill>
            <a:srgbClr val="5163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639" name="object 4"/>
          <p:cNvSpPr txBox="1">
            <a:spLocks noGrp="1"/>
          </p:cNvSpPr>
          <p:nvPr>
            <p:ph type="title"/>
          </p:nvPr>
        </p:nvSpPr>
        <p:spPr>
          <a:xfrm>
            <a:off x="207975" y="-30403"/>
            <a:ext cx="2868655" cy="381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2400" spc="-180" dirty="0">
                <a:solidFill>
                  <a:srgbClr val="51637D"/>
                </a:solidFill>
              </a:rPr>
              <a:t>BACKGROUND</a:t>
            </a:r>
            <a:endParaRPr sz="2400"/>
          </a:p>
        </p:txBody>
      </p:sp>
      <p:sp>
        <p:nvSpPr>
          <p:cNvPr id="1048640" name="object 6"/>
          <p:cNvSpPr/>
          <p:nvPr/>
        </p:nvSpPr>
        <p:spPr>
          <a:xfrm>
            <a:off x="-2147399067" y="361949"/>
            <a:ext cx="0" cy="252077"/>
          </a:xfrm>
          <a:custGeom>
            <a:avLst/>
            <a:gdLst/>
            <a:ahLst/>
            <a:cxnLst/>
            <a:rect l="l" t="t" r="r" b="b"/>
            <a:pathLst>
              <a:path w="12108815">
                <a:moveTo>
                  <a:pt x="0" y="0"/>
                </a:moveTo>
                <a:lnTo>
                  <a:pt x="12108815" y="0"/>
                </a:lnTo>
              </a:path>
            </a:pathLst>
          </a:custGeom>
          <a:ln w="19812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1" name="Group 11"/>
          <p:cNvGrpSpPr/>
          <p:nvPr/>
        </p:nvGrpSpPr>
        <p:grpSpPr>
          <a:xfrm>
            <a:off x="8578215" y="0"/>
            <a:ext cx="3613785" cy="338455"/>
            <a:chOff x="8505443" y="15240"/>
            <a:chExt cx="3613785" cy="338455"/>
          </a:xfrm>
        </p:grpSpPr>
        <p:sp>
          <p:nvSpPr>
            <p:cNvPr id="1048641" name="object 40"/>
            <p:cNvSpPr/>
            <p:nvPr/>
          </p:nvSpPr>
          <p:spPr>
            <a:xfrm>
              <a:off x="8505443" y="15240"/>
              <a:ext cx="3613785" cy="338455"/>
            </a:xfrm>
            <a:custGeom>
              <a:avLst/>
              <a:gdLst/>
              <a:ahLst/>
              <a:cxnLst/>
              <a:rect l="l" t="t" r="r" b="b"/>
              <a:pathLst>
                <a:path w="3613784" h="338455">
                  <a:moveTo>
                    <a:pt x="3613404" y="0"/>
                  </a:moveTo>
                  <a:lnTo>
                    <a:pt x="0" y="0"/>
                  </a:lnTo>
                  <a:lnTo>
                    <a:pt x="0" y="338327"/>
                  </a:lnTo>
                  <a:lnTo>
                    <a:pt x="3613404" y="338327"/>
                  </a:lnTo>
                  <a:lnTo>
                    <a:pt x="3613404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8642" name="object 45"/>
            <p:cNvSpPr txBox="1"/>
            <p:nvPr/>
          </p:nvSpPr>
          <p:spPr>
            <a:xfrm>
              <a:off x="8674989" y="36067"/>
              <a:ext cx="3275329" cy="258404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600" b="1" dirty="0" smtClean="0">
                  <a:solidFill>
                    <a:srgbClr val="FFFFFF"/>
                  </a:solidFill>
                  <a:latin typeface="Calibri"/>
                  <a:cs typeface="Calibri"/>
                </a:rPr>
                <a:t>Supporting </a:t>
              </a:r>
              <a:r>
                <a:rPr sz="1600" b="1" dirty="0">
                  <a:solidFill>
                    <a:srgbClr val="FFFFFF"/>
                  </a:solidFill>
                  <a:latin typeface="Calibri"/>
                  <a:cs typeface="Calibri"/>
                </a:rPr>
                <a:t>/</a:t>
              </a:r>
              <a:r>
                <a:rPr sz="1600" b="1" spc="-50" dirty="0">
                  <a:solidFill>
                    <a:srgbClr val="FFFFFF"/>
                  </a:solidFill>
                  <a:latin typeface="Calibri"/>
                  <a:cs typeface="Calibri"/>
                </a:rPr>
                <a:t> </a:t>
              </a:r>
              <a:r>
                <a:rPr sz="1600" b="1" dirty="0">
                  <a:solidFill>
                    <a:srgbClr val="FFFFFF"/>
                  </a:solidFill>
                  <a:latin typeface="Calibri"/>
                  <a:cs typeface="Calibri"/>
                </a:rPr>
                <a:t>Capex</a:t>
              </a:r>
              <a:r>
                <a:rPr sz="1600" b="1" spc="-30" dirty="0">
                  <a:solidFill>
                    <a:srgbClr val="FFFFFF"/>
                  </a:solidFill>
                  <a:latin typeface="Calibri"/>
                  <a:cs typeface="Calibri"/>
                </a:rPr>
                <a:t> </a:t>
              </a:r>
              <a:r>
                <a:rPr sz="1600" b="1" dirty="0">
                  <a:solidFill>
                    <a:srgbClr val="FFFFFF"/>
                  </a:solidFill>
                  <a:latin typeface="Calibri"/>
                  <a:cs typeface="Calibri"/>
                </a:rPr>
                <a:t>Non</a:t>
              </a:r>
              <a:r>
                <a:rPr sz="1600" b="1" spc="-55" dirty="0">
                  <a:solidFill>
                    <a:srgbClr val="FFFFFF"/>
                  </a:solidFill>
                  <a:latin typeface="Calibri"/>
                  <a:cs typeface="Calibri"/>
                </a:rPr>
                <a:t> </a:t>
              </a:r>
              <a:r>
                <a:rPr sz="1600" b="1" spc="-25" dirty="0">
                  <a:solidFill>
                    <a:srgbClr val="FFFFFF"/>
                  </a:solidFill>
                  <a:latin typeface="Calibri"/>
                  <a:cs typeface="Calibri"/>
                </a:rPr>
                <a:t>FS</a:t>
              </a:r>
              <a:endParaRPr sz="1600" dirty="0">
                <a:latin typeface="Calibri"/>
                <a:cs typeface="Calibri"/>
              </a:endParaRPr>
            </a:p>
          </p:txBody>
        </p:sp>
      </p:grpSp>
      <p:sp>
        <p:nvSpPr>
          <p:cNvPr id="16" name="object 31"/>
          <p:cNvSpPr txBox="1">
            <a:spLocks/>
          </p:cNvSpPr>
          <p:nvPr/>
        </p:nvSpPr>
        <p:spPr>
          <a:xfrm>
            <a:off x="235710" y="487987"/>
            <a:ext cx="4412489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Franklin Gothic Medium"/>
                <a:ea typeface="+mj-ea"/>
                <a:cs typeface="Franklin Gothic Medium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en-US" spc="-120" dirty="0" err="1" smtClean="0"/>
              <a:t>Kualitas</a:t>
            </a:r>
            <a:r>
              <a:rPr lang="en-US" spc="-120" dirty="0" smtClean="0"/>
              <a:t> air Cooling Tower 1</a:t>
            </a:r>
            <a:endParaRPr lang="en-US" spc="-125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3773587"/>
            <a:ext cx="5104072" cy="286964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5819"/>
          <a:stretch/>
        </p:blipFill>
        <p:spPr>
          <a:xfrm rot="5400000">
            <a:off x="7431267" y="2754106"/>
            <a:ext cx="2897261" cy="4853329"/>
          </a:xfrm>
          <a:prstGeom prst="rect">
            <a:avLst/>
          </a:prstGeom>
        </p:spPr>
      </p:pic>
      <p:sp>
        <p:nvSpPr>
          <p:cNvPr id="18" name="TextBox 64"/>
          <p:cNvSpPr txBox="1"/>
          <p:nvPr/>
        </p:nvSpPr>
        <p:spPr>
          <a:xfrm>
            <a:off x="6758033" y="6248400"/>
            <a:ext cx="3986167" cy="304802"/>
          </a:xfrm>
          <a:prstGeom prst="rect">
            <a:avLst/>
          </a:prstGeom>
          <a:solidFill>
            <a:schemeClr val="bg1"/>
          </a:solidFill>
          <a:ln w="9525" cmpd="sng">
            <a:solidFill>
              <a:schemeClr val="tx1">
                <a:alpha val="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36000" rIns="36000" rtlCol="0" anchor="t" anchorCtr="0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 err="1" smtClean="0"/>
              <a:t>Kerak</a:t>
            </a:r>
            <a:r>
              <a:rPr lang="en-US" sz="1200" dirty="0" smtClean="0"/>
              <a:t> yang </a:t>
            </a:r>
            <a:r>
              <a:rPr lang="en-US" sz="1200" dirty="0" err="1" smtClean="0"/>
              <a:t>terlepas</a:t>
            </a:r>
            <a:r>
              <a:rPr lang="en-US" sz="1200" dirty="0" smtClean="0"/>
              <a:t> </a:t>
            </a:r>
            <a:r>
              <a:rPr lang="en-US" sz="1200" dirty="0" err="1" smtClean="0"/>
              <a:t>setelah</a:t>
            </a:r>
            <a:r>
              <a:rPr lang="en-US" sz="1200" dirty="0" smtClean="0"/>
              <a:t> </a:t>
            </a:r>
            <a:r>
              <a:rPr lang="en-US" sz="1200" dirty="0" err="1" smtClean="0"/>
              <a:t>penambahan</a:t>
            </a:r>
            <a:r>
              <a:rPr lang="en-US" sz="1200" dirty="0" smtClean="0"/>
              <a:t> chemical </a:t>
            </a:r>
            <a:r>
              <a:rPr lang="en-US" sz="1200" dirty="0" err="1" smtClean="0"/>
              <a:t>pembersih</a:t>
            </a:r>
            <a:endParaRPr lang="en-US" sz="1200" dirty="0" smtClean="0"/>
          </a:p>
        </p:txBody>
      </p:sp>
      <p:sp>
        <p:nvSpPr>
          <p:cNvPr id="19" name="Oval 18"/>
          <p:cNvSpPr/>
          <p:nvPr/>
        </p:nvSpPr>
        <p:spPr>
          <a:xfrm rot="1549006">
            <a:off x="2689824" y="4961105"/>
            <a:ext cx="2822604" cy="88591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64"/>
          <p:cNvSpPr txBox="1"/>
          <p:nvPr/>
        </p:nvSpPr>
        <p:spPr>
          <a:xfrm>
            <a:off x="1143000" y="3215532"/>
            <a:ext cx="2466902" cy="245353"/>
          </a:xfrm>
          <a:prstGeom prst="rect">
            <a:avLst/>
          </a:prstGeom>
          <a:solidFill>
            <a:schemeClr val="bg1"/>
          </a:solidFill>
          <a:ln w="9525" cmpd="sng">
            <a:solidFill>
              <a:schemeClr val="tx1">
                <a:alpha val="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36000" rIns="36000" rtlCol="0" anchor="t" anchorCtr="0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 smtClean="0"/>
              <a:t>TDS Air rata-rata 1.446 mg/L</a:t>
            </a:r>
          </a:p>
        </p:txBody>
      </p:sp>
      <p:sp>
        <p:nvSpPr>
          <p:cNvPr id="20" name="TextBox 64"/>
          <p:cNvSpPr txBox="1"/>
          <p:nvPr/>
        </p:nvSpPr>
        <p:spPr>
          <a:xfrm>
            <a:off x="2833651" y="4460213"/>
            <a:ext cx="2652749" cy="264187"/>
          </a:xfrm>
          <a:prstGeom prst="rect">
            <a:avLst/>
          </a:prstGeom>
          <a:solidFill>
            <a:schemeClr val="bg1"/>
          </a:solidFill>
          <a:ln w="9525" cmpd="sng">
            <a:solidFill>
              <a:schemeClr val="tx1">
                <a:alpha val="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36000" rIns="36000" rtlCol="0" anchor="t" anchorCtr="0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 err="1" smtClean="0"/>
              <a:t>Kerak</a:t>
            </a:r>
            <a:r>
              <a:rPr lang="en-US" sz="1200" dirty="0" smtClean="0"/>
              <a:t> &amp; </a:t>
            </a:r>
            <a:r>
              <a:rPr lang="en-US" sz="1200" dirty="0" err="1" smtClean="0"/>
              <a:t>lumut</a:t>
            </a:r>
            <a:r>
              <a:rPr lang="en-US" sz="1200" dirty="0" smtClean="0"/>
              <a:t> </a:t>
            </a:r>
            <a:r>
              <a:rPr lang="en-US" sz="1200" dirty="0" err="1" smtClean="0"/>
              <a:t>menempel</a:t>
            </a:r>
            <a:r>
              <a:rPr lang="en-US" sz="1200" dirty="0" smtClean="0"/>
              <a:t> di </a:t>
            </a:r>
            <a:r>
              <a:rPr lang="en-US" sz="1200" dirty="0" err="1" smtClean="0"/>
              <a:t>dinding</a:t>
            </a:r>
            <a:endParaRPr lang="en-US" sz="1200" dirty="0" smtClean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200" y="912930"/>
            <a:ext cx="1422723" cy="253051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4081" y="912930"/>
            <a:ext cx="2709009" cy="152307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4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1024467"/>
            <a:ext cx="1369726" cy="2436253"/>
          </a:xfrm>
          <a:prstGeom prst="rect">
            <a:avLst/>
          </a:prstGeom>
        </p:spPr>
      </p:pic>
      <p:sp>
        <p:nvSpPr>
          <p:cNvPr id="28" name="TextBox 64"/>
          <p:cNvSpPr txBox="1"/>
          <p:nvPr/>
        </p:nvSpPr>
        <p:spPr>
          <a:xfrm>
            <a:off x="9419216" y="2427540"/>
            <a:ext cx="2466902" cy="463250"/>
          </a:xfrm>
          <a:prstGeom prst="rect">
            <a:avLst/>
          </a:prstGeom>
          <a:solidFill>
            <a:schemeClr val="bg1"/>
          </a:solidFill>
          <a:ln w="9525" cmpd="sng">
            <a:solidFill>
              <a:schemeClr val="tx1">
                <a:alpha val="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36000" rIns="36000" rtlCol="0" anchor="t" anchorCtr="0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 err="1" smtClean="0"/>
              <a:t>Kerak</a:t>
            </a:r>
            <a:r>
              <a:rPr lang="en-US" sz="1200" dirty="0" smtClean="0"/>
              <a:t> di filler yang </a:t>
            </a:r>
            <a:r>
              <a:rPr lang="en-US" sz="1200" dirty="0" err="1" smtClean="0"/>
              <a:t>sudah</a:t>
            </a:r>
            <a:r>
              <a:rPr lang="en-US" sz="1200" dirty="0" smtClean="0"/>
              <a:t> </a:t>
            </a:r>
            <a:r>
              <a:rPr lang="en-US" sz="1200" dirty="0" err="1" smtClean="0"/>
              <a:t>mengeras</a:t>
            </a:r>
            <a:r>
              <a:rPr lang="en-US" sz="1200" dirty="0" smtClean="0"/>
              <a:t>, </a:t>
            </a:r>
            <a:r>
              <a:rPr lang="en-US" sz="1200" dirty="0" err="1" smtClean="0"/>
              <a:t>sehingga</a:t>
            </a:r>
            <a:r>
              <a:rPr lang="en-US" sz="1200" dirty="0" smtClean="0"/>
              <a:t> filler </a:t>
            </a:r>
            <a:r>
              <a:rPr lang="en-US" sz="1200" dirty="0" err="1" smtClean="0"/>
              <a:t>mudah</a:t>
            </a:r>
            <a:r>
              <a:rPr lang="en-US" sz="1200" dirty="0" smtClean="0"/>
              <a:t> </a:t>
            </a:r>
            <a:r>
              <a:rPr lang="en-US" sz="1200" dirty="0" err="1" smtClean="0"/>
              <a:t>pecah</a:t>
            </a:r>
            <a:endParaRPr lang="en-US" sz="1200" dirty="0" smtClean="0"/>
          </a:p>
        </p:txBody>
      </p:sp>
      <p:sp>
        <p:nvSpPr>
          <p:cNvPr id="29" name="TextBox 64"/>
          <p:cNvSpPr txBox="1"/>
          <p:nvPr/>
        </p:nvSpPr>
        <p:spPr>
          <a:xfrm>
            <a:off x="6019800" y="738791"/>
            <a:ext cx="1181018" cy="251809"/>
          </a:xfrm>
          <a:prstGeom prst="rect">
            <a:avLst/>
          </a:prstGeom>
          <a:solidFill>
            <a:schemeClr val="bg1"/>
          </a:solidFill>
          <a:ln w="9525" cmpd="sng">
            <a:solidFill>
              <a:schemeClr val="tx1">
                <a:alpha val="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36000" rIns="36000" rtlCol="0" anchor="t" anchorCtr="0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 smtClean="0"/>
              <a:t>Cooling Tower</a:t>
            </a:r>
          </a:p>
        </p:txBody>
      </p:sp>
      <p:sp>
        <p:nvSpPr>
          <p:cNvPr id="30" name="TextBox 64"/>
          <p:cNvSpPr txBox="1"/>
          <p:nvPr/>
        </p:nvSpPr>
        <p:spPr>
          <a:xfrm>
            <a:off x="7799698" y="3139075"/>
            <a:ext cx="1181018" cy="251809"/>
          </a:xfrm>
          <a:prstGeom prst="rect">
            <a:avLst/>
          </a:prstGeom>
          <a:solidFill>
            <a:schemeClr val="bg1"/>
          </a:solidFill>
          <a:ln w="9525" cmpd="sng">
            <a:solidFill>
              <a:schemeClr val="tx1">
                <a:alpha val="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36000" rIns="36000" rtlCol="0" anchor="t" anchorCtr="0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 smtClean="0"/>
              <a:t>Filler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72324" y="2436007"/>
            <a:ext cx="157076" cy="3071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/>
          <p:cNvCxnSpPr>
            <a:stCxn id="12" idx="3"/>
            <a:endCxn id="7" idx="1"/>
          </p:cNvCxnSpPr>
          <p:nvPr/>
        </p:nvCxnSpPr>
        <p:spPr>
          <a:xfrm flipV="1">
            <a:off x="6629400" y="2178188"/>
            <a:ext cx="1066800" cy="411416"/>
          </a:xfrm>
          <a:prstGeom prst="straightConnector1">
            <a:avLst/>
          </a:prstGeom>
          <a:ln w="28575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 rot="1549006">
            <a:off x="7410478" y="4198719"/>
            <a:ext cx="667462" cy="59052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 rot="1549006">
            <a:off x="8895129" y="4713842"/>
            <a:ext cx="1867695" cy="72627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8424746" y="4724400"/>
            <a:ext cx="566854" cy="105219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 rot="1549006">
            <a:off x="6638313" y="4012235"/>
            <a:ext cx="473015" cy="59052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 rot="1549006">
            <a:off x="9146942" y="5384690"/>
            <a:ext cx="667462" cy="59052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2428" y="864694"/>
            <a:ext cx="4828038" cy="2350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225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object 4"/>
          <p:cNvSpPr/>
          <p:nvPr/>
        </p:nvSpPr>
        <p:spPr>
          <a:xfrm>
            <a:off x="57911" y="419100"/>
            <a:ext cx="12077700" cy="6356985"/>
          </a:xfrm>
          <a:custGeom>
            <a:avLst/>
            <a:gdLst/>
            <a:ahLst/>
            <a:cxnLst/>
            <a:rect l="l" t="t" r="r" b="b"/>
            <a:pathLst>
              <a:path w="12077700" h="6356984">
                <a:moveTo>
                  <a:pt x="0" y="6356604"/>
                </a:moveTo>
                <a:lnTo>
                  <a:pt x="12077700" y="6356604"/>
                </a:lnTo>
                <a:lnTo>
                  <a:pt x="12077700" y="0"/>
                </a:lnTo>
                <a:lnTo>
                  <a:pt x="0" y="0"/>
                </a:lnTo>
                <a:lnTo>
                  <a:pt x="0" y="6356604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638" name="object 3"/>
          <p:cNvSpPr/>
          <p:nvPr/>
        </p:nvSpPr>
        <p:spPr>
          <a:xfrm>
            <a:off x="0" y="0"/>
            <a:ext cx="166370" cy="361315"/>
          </a:xfrm>
          <a:custGeom>
            <a:avLst/>
            <a:gdLst/>
            <a:ahLst/>
            <a:cxnLst/>
            <a:rect l="l" t="t" r="r" b="b"/>
            <a:pathLst>
              <a:path w="166370" h="361315">
                <a:moveTo>
                  <a:pt x="0" y="361188"/>
                </a:moveTo>
                <a:lnTo>
                  <a:pt x="166116" y="361188"/>
                </a:lnTo>
                <a:lnTo>
                  <a:pt x="166116" y="0"/>
                </a:lnTo>
                <a:lnTo>
                  <a:pt x="0" y="0"/>
                </a:lnTo>
                <a:lnTo>
                  <a:pt x="0" y="361188"/>
                </a:lnTo>
                <a:close/>
              </a:path>
            </a:pathLst>
          </a:custGeom>
          <a:solidFill>
            <a:srgbClr val="5163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639" name="object 4"/>
          <p:cNvSpPr txBox="1">
            <a:spLocks noGrp="1"/>
          </p:cNvSpPr>
          <p:nvPr>
            <p:ph type="title"/>
          </p:nvPr>
        </p:nvSpPr>
        <p:spPr>
          <a:xfrm>
            <a:off x="207975" y="-30403"/>
            <a:ext cx="2868655" cy="381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2400" spc="-180" dirty="0">
                <a:solidFill>
                  <a:srgbClr val="51637D"/>
                </a:solidFill>
              </a:rPr>
              <a:t>BACKGROUND</a:t>
            </a:r>
            <a:endParaRPr sz="2400"/>
          </a:p>
        </p:txBody>
      </p:sp>
      <p:sp>
        <p:nvSpPr>
          <p:cNvPr id="1048640" name="object 6"/>
          <p:cNvSpPr/>
          <p:nvPr/>
        </p:nvSpPr>
        <p:spPr>
          <a:xfrm>
            <a:off x="-2147399067" y="361949"/>
            <a:ext cx="0" cy="252077"/>
          </a:xfrm>
          <a:custGeom>
            <a:avLst/>
            <a:gdLst/>
            <a:ahLst/>
            <a:cxnLst/>
            <a:rect l="l" t="t" r="r" b="b"/>
            <a:pathLst>
              <a:path w="12108815">
                <a:moveTo>
                  <a:pt x="0" y="0"/>
                </a:moveTo>
                <a:lnTo>
                  <a:pt x="12108815" y="0"/>
                </a:lnTo>
              </a:path>
            </a:pathLst>
          </a:custGeom>
          <a:ln w="19812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1" name="Group 11"/>
          <p:cNvGrpSpPr/>
          <p:nvPr/>
        </p:nvGrpSpPr>
        <p:grpSpPr>
          <a:xfrm>
            <a:off x="8578215" y="0"/>
            <a:ext cx="3613785" cy="338455"/>
            <a:chOff x="8505443" y="15240"/>
            <a:chExt cx="3613785" cy="338455"/>
          </a:xfrm>
        </p:grpSpPr>
        <p:sp>
          <p:nvSpPr>
            <p:cNvPr id="1048641" name="object 40"/>
            <p:cNvSpPr/>
            <p:nvPr/>
          </p:nvSpPr>
          <p:spPr>
            <a:xfrm>
              <a:off x="8505443" y="15240"/>
              <a:ext cx="3613785" cy="338455"/>
            </a:xfrm>
            <a:custGeom>
              <a:avLst/>
              <a:gdLst/>
              <a:ahLst/>
              <a:cxnLst/>
              <a:rect l="l" t="t" r="r" b="b"/>
              <a:pathLst>
                <a:path w="3613784" h="338455">
                  <a:moveTo>
                    <a:pt x="3613404" y="0"/>
                  </a:moveTo>
                  <a:lnTo>
                    <a:pt x="0" y="0"/>
                  </a:lnTo>
                  <a:lnTo>
                    <a:pt x="0" y="338327"/>
                  </a:lnTo>
                  <a:lnTo>
                    <a:pt x="3613404" y="338327"/>
                  </a:lnTo>
                  <a:lnTo>
                    <a:pt x="3613404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8642" name="object 45"/>
            <p:cNvSpPr txBox="1"/>
            <p:nvPr/>
          </p:nvSpPr>
          <p:spPr>
            <a:xfrm>
              <a:off x="8674989" y="36067"/>
              <a:ext cx="3275329" cy="258404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600" b="1" dirty="0" smtClean="0">
                  <a:solidFill>
                    <a:srgbClr val="FFFFFF"/>
                  </a:solidFill>
                  <a:latin typeface="Calibri"/>
                  <a:cs typeface="Calibri"/>
                </a:rPr>
                <a:t>Supporting </a:t>
              </a:r>
              <a:r>
                <a:rPr sz="1600" b="1" dirty="0">
                  <a:solidFill>
                    <a:srgbClr val="FFFFFF"/>
                  </a:solidFill>
                  <a:latin typeface="Calibri"/>
                  <a:cs typeface="Calibri"/>
                </a:rPr>
                <a:t>/</a:t>
              </a:r>
              <a:r>
                <a:rPr sz="1600" b="1" spc="-50" dirty="0">
                  <a:solidFill>
                    <a:srgbClr val="FFFFFF"/>
                  </a:solidFill>
                  <a:latin typeface="Calibri"/>
                  <a:cs typeface="Calibri"/>
                </a:rPr>
                <a:t> </a:t>
              </a:r>
              <a:r>
                <a:rPr sz="1600" b="1" dirty="0">
                  <a:solidFill>
                    <a:srgbClr val="FFFFFF"/>
                  </a:solidFill>
                  <a:latin typeface="Calibri"/>
                  <a:cs typeface="Calibri"/>
                </a:rPr>
                <a:t>Capex</a:t>
              </a:r>
              <a:r>
                <a:rPr sz="1600" b="1" spc="-30" dirty="0">
                  <a:solidFill>
                    <a:srgbClr val="FFFFFF"/>
                  </a:solidFill>
                  <a:latin typeface="Calibri"/>
                  <a:cs typeface="Calibri"/>
                </a:rPr>
                <a:t> </a:t>
              </a:r>
              <a:r>
                <a:rPr sz="1600" b="1" dirty="0">
                  <a:solidFill>
                    <a:srgbClr val="FFFFFF"/>
                  </a:solidFill>
                  <a:latin typeface="Calibri"/>
                  <a:cs typeface="Calibri"/>
                </a:rPr>
                <a:t>Non</a:t>
              </a:r>
              <a:r>
                <a:rPr sz="1600" b="1" spc="-55" dirty="0">
                  <a:solidFill>
                    <a:srgbClr val="FFFFFF"/>
                  </a:solidFill>
                  <a:latin typeface="Calibri"/>
                  <a:cs typeface="Calibri"/>
                </a:rPr>
                <a:t> </a:t>
              </a:r>
              <a:r>
                <a:rPr sz="1600" b="1" spc="-25" dirty="0">
                  <a:solidFill>
                    <a:srgbClr val="FFFFFF"/>
                  </a:solidFill>
                  <a:latin typeface="Calibri"/>
                  <a:cs typeface="Calibri"/>
                </a:rPr>
                <a:t>FS</a:t>
              </a:r>
              <a:endParaRPr sz="1600" dirty="0">
                <a:latin typeface="Calibri"/>
                <a:cs typeface="Calibri"/>
              </a:endParaRPr>
            </a:p>
          </p:txBody>
        </p:sp>
      </p:grpSp>
      <p:sp>
        <p:nvSpPr>
          <p:cNvPr id="16" name="object 31"/>
          <p:cNvSpPr txBox="1">
            <a:spLocks/>
          </p:cNvSpPr>
          <p:nvPr/>
        </p:nvSpPr>
        <p:spPr>
          <a:xfrm>
            <a:off x="235710" y="487987"/>
            <a:ext cx="4412489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Franklin Gothic Medium"/>
                <a:ea typeface="+mj-ea"/>
                <a:cs typeface="Franklin Gothic Medium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en-US" spc="-120" dirty="0" err="1" smtClean="0"/>
              <a:t>Filtrasi</a:t>
            </a:r>
            <a:r>
              <a:rPr lang="en-US" spc="-120" dirty="0" smtClean="0"/>
              <a:t> air Cooling Tower 1</a:t>
            </a:r>
            <a:endParaRPr lang="en-US" spc="-125" dirty="0"/>
          </a:p>
        </p:txBody>
      </p:sp>
      <p:grpSp>
        <p:nvGrpSpPr>
          <p:cNvPr id="3" name="Group 2"/>
          <p:cNvGrpSpPr/>
          <p:nvPr/>
        </p:nvGrpSpPr>
        <p:grpSpPr>
          <a:xfrm>
            <a:off x="228600" y="889874"/>
            <a:ext cx="11718290" cy="5340865"/>
            <a:chOff x="304800" y="889874"/>
            <a:chExt cx="9664380" cy="4404751"/>
          </a:xfrm>
        </p:grpSpPr>
        <p:pic>
          <p:nvPicPr>
            <p:cNvPr id="32" name="Picture 3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4800" y="889874"/>
              <a:ext cx="9664380" cy="4404751"/>
            </a:xfrm>
            <a:prstGeom prst="rect">
              <a:avLst/>
            </a:prstGeom>
          </p:spPr>
        </p:pic>
        <p:sp>
          <p:nvSpPr>
            <p:cNvPr id="33" name="Rectangle 32"/>
            <p:cNvSpPr/>
            <p:nvPr/>
          </p:nvSpPr>
          <p:spPr>
            <a:xfrm>
              <a:off x="7118575" y="1620092"/>
              <a:ext cx="694267" cy="414866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id-ID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pic>
          <p:nvPicPr>
            <p:cNvPr id="35" name="Picture 34"/>
            <p:cNvPicPr>
              <a:picLocks noChangeAspect="1"/>
            </p:cNvPicPr>
            <p:nvPr/>
          </p:nvPicPr>
          <p:blipFill rotWithShape="1">
            <a:blip r:embed="rId3"/>
            <a:srcRect l="5351"/>
            <a:stretch/>
          </p:blipFill>
          <p:spPr>
            <a:xfrm>
              <a:off x="8521326" y="1230625"/>
              <a:ext cx="1433585" cy="819984"/>
            </a:xfrm>
            <a:prstGeom prst="rect">
              <a:avLst/>
            </a:prstGeom>
          </p:spPr>
        </p:pic>
        <p:cxnSp>
          <p:nvCxnSpPr>
            <p:cNvPr id="37" name="Straight Arrow Connector 36"/>
            <p:cNvCxnSpPr/>
            <p:nvPr/>
          </p:nvCxnSpPr>
          <p:spPr>
            <a:xfrm flipV="1">
              <a:off x="7675020" y="1733324"/>
              <a:ext cx="922352" cy="111318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TextBox 64"/>
          <p:cNvSpPr txBox="1"/>
          <p:nvPr/>
        </p:nvSpPr>
        <p:spPr>
          <a:xfrm>
            <a:off x="6858000" y="4953000"/>
            <a:ext cx="1351036" cy="228600"/>
          </a:xfrm>
          <a:prstGeom prst="rect">
            <a:avLst/>
          </a:prstGeom>
          <a:solidFill>
            <a:schemeClr val="bg1"/>
          </a:solidFill>
          <a:ln w="9525" cmpd="sng">
            <a:solidFill>
              <a:schemeClr val="tx1">
                <a:alpha val="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36000" rIns="36000" rtlCol="0" anchor="t" anchorCtr="0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 err="1" smtClean="0"/>
              <a:t>Kondisi</a:t>
            </a:r>
            <a:r>
              <a:rPr lang="en-US" sz="1200" dirty="0" smtClean="0"/>
              <a:t> air </a:t>
            </a:r>
            <a:r>
              <a:rPr lang="en-US" sz="1200" dirty="0" err="1" smtClean="0"/>
              <a:t>terbaik</a:t>
            </a:r>
            <a:endParaRPr lang="en-US" sz="1200" dirty="0" smtClean="0"/>
          </a:p>
        </p:txBody>
      </p:sp>
    </p:spTree>
    <p:extLst>
      <p:ext uri="{BB962C8B-B14F-4D97-AF65-F5344CB8AC3E}">
        <p14:creationId xmlns:p14="http://schemas.microsoft.com/office/powerpoint/2010/main" val="1868905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object 2"/>
          <p:cNvGrpSpPr/>
          <p:nvPr/>
        </p:nvGrpSpPr>
        <p:grpSpPr>
          <a:xfrm>
            <a:off x="761" y="336804"/>
            <a:ext cx="12189460" cy="6445250"/>
            <a:chOff x="761" y="336804"/>
            <a:chExt cx="12189460" cy="6445250"/>
          </a:xfrm>
        </p:grpSpPr>
        <p:sp>
          <p:nvSpPr>
            <p:cNvPr id="1048646" name="object 3"/>
            <p:cNvSpPr/>
            <p:nvPr/>
          </p:nvSpPr>
          <p:spPr>
            <a:xfrm>
              <a:off x="57911" y="419100"/>
              <a:ext cx="12077700" cy="6356985"/>
            </a:xfrm>
            <a:custGeom>
              <a:avLst/>
              <a:gdLst/>
              <a:ahLst/>
              <a:cxnLst/>
              <a:rect l="l" t="t" r="r" b="b"/>
              <a:pathLst>
                <a:path w="12077700" h="6356984">
                  <a:moveTo>
                    <a:pt x="0" y="6356604"/>
                  </a:moveTo>
                  <a:lnTo>
                    <a:pt x="12077700" y="6356604"/>
                  </a:lnTo>
                  <a:lnTo>
                    <a:pt x="12077700" y="0"/>
                  </a:lnTo>
                  <a:lnTo>
                    <a:pt x="0" y="0"/>
                  </a:lnTo>
                  <a:lnTo>
                    <a:pt x="0" y="6356604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8647" name="object 4"/>
            <p:cNvSpPr/>
            <p:nvPr/>
          </p:nvSpPr>
          <p:spPr>
            <a:xfrm>
              <a:off x="761" y="355854"/>
              <a:ext cx="12189460" cy="0"/>
            </a:xfrm>
            <a:custGeom>
              <a:avLst/>
              <a:gdLst/>
              <a:ahLst/>
              <a:cxnLst/>
              <a:rect l="l" t="t" r="r" b="b"/>
              <a:pathLst>
                <a:path w="12189460">
                  <a:moveTo>
                    <a:pt x="0" y="0"/>
                  </a:moveTo>
                  <a:lnTo>
                    <a:pt x="12188952" y="0"/>
                  </a:lnTo>
                </a:path>
              </a:pathLst>
            </a:custGeom>
            <a:ln w="38100">
              <a:solidFill>
                <a:srgbClr val="00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48648" name="object 5"/>
          <p:cNvSpPr/>
          <p:nvPr/>
        </p:nvSpPr>
        <p:spPr>
          <a:xfrm>
            <a:off x="0" y="0"/>
            <a:ext cx="166370" cy="361315"/>
          </a:xfrm>
          <a:custGeom>
            <a:avLst/>
            <a:gdLst/>
            <a:ahLst/>
            <a:cxnLst/>
            <a:rect l="l" t="t" r="r" b="b"/>
            <a:pathLst>
              <a:path w="166370" h="361315">
                <a:moveTo>
                  <a:pt x="0" y="361188"/>
                </a:moveTo>
                <a:lnTo>
                  <a:pt x="166116" y="361188"/>
                </a:lnTo>
                <a:lnTo>
                  <a:pt x="166116" y="0"/>
                </a:lnTo>
                <a:lnTo>
                  <a:pt x="0" y="0"/>
                </a:lnTo>
                <a:lnTo>
                  <a:pt x="0" y="361188"/>
                </a:lnTo>
                <a:close/>
              </a:path>
            </a:pathLst>
          </a:custGeom>
          <a:solidFill>
            <a:srgbClr val="5163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649" name="object 6"/>
          <p:cNvSpPr txBox="1">
            <a:spLocks noGrp="1"/>
          </p:cNvSpPr>
          <p:nvPr>
            <p:ph type="title"/>
          </p:nvPr>
        </p:nvSpPr>
        <p:spPr>
          <a:xfrm>
            <a:off x="207975" y="9525"/>
            <a:ext cx="20643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spc="-155" dirty="0" smtClean="0">
                <a:solidFill>
                  <a:srgbClr val="51637D"/>
                </a:solidFill>
              </a:rPr>
              <a:t>Quotation</a:t>
            </a:r>
            <a:endParaRPr sz="2400" dirty="0"/>
          </a:p>
        </p:txBody>
      </p:sp>
      <p:grpSp>
        <p:nvGrpSpPr>
          <p:cNvPr id="34" name="Group 16"/>
          <p:cNvGrpSpPr/>
          <p:nvPr/>
        </p:nvGrpSpPr>
        <p:grpSpPr>
          <a:xfrm>
            <a:off x="8578215" y="15240"/>
            <a:ext cx="3613785" cy="338455"/>
            <a:chOff x="8578215" y="15240"/>
            <a:chExt cx="3613785" cy="338455"/>
          </a:xfrm>
        </p:grpSpPr>
        <p:sp>
          <p:nvSpPr>
            <p:cNvPr id="1048650" name="object 21"/>
            <p:cNvSpPr/>
            <p:nvPr/>
          </p:nvSpPr>
          <p:spPr>
            <a:xfrm>
              <a:off x="8578215" y="15240"/>
              <a:ext cx="3613785" cy="338455"/>
            </a:xfrm>
            <a:custGeom>
              <a:avLst/>
              <a:gdLst/>
              <a:ahLst/>
              <a:cxnLst/>
              <a:rect l="l" t="t" r="r" b="b"/>
              <a:pathLst>
                <a:path w="3613784" h="338455">
                  <a:moveTo>
                    <a:pt x="3613404" y="0"/>
                  </a:moveTo>
                  <a:lnTo>
                    <a:pt x="0" y="0"/>
                  </a:lnTo>
                  <a:lnTo>
                    <a:pt x="0" y="338327"/>
                  </a:lnTo>
                  <a:lnTo>
                    <a:pt x="3613404" y="338327"/>
                  </a:lnTo>
                  <a:lnTo>
                    <a:pt x="3613404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8651" name="object 22"/>
            <p:cNvSpPr txBox="1"/>
            <p:nvPr/>
          </p:nvSpPr>
          <p:spPr>
            <a:xfrm>
              <a:off x="8674989" y="36067"/>
              <a:ext cx="3275329" cy="258404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600" b="1" dirty="0" smtClean="0">
                  <a:solidFill>
                    <a:srgbClr val="FFFFFF"/>
                  </a:solidFill>
                  <a:latin typeface="Calibri"/>
                  <a:cs typeface="Calibri"/>
                </a:rPr>
                <a:t>Supporting </a:t>
              </a:r>
              <a:r>
                <a:rPr sz="1600" b="1" dirty="0">
                  <a:solidFill>
                    <a:srgbClr val="FFFFFF"/>
                  </a:solidFill>
                  <a:latin typeface="Calibri"/>
                  <a:cs typeface="Calibri"/>
                </a:rPr>
                <a:t>/</a:t>
              </a:r>
              <a:r>
                <a:rPr sz="1600" b="1" spc="-50" dirty="0">
                  <a:solidFill>
                    <a:srgbClr val="FFFFFF"/>
                  </a:solidFill>
                  <a:latin typeface="Calibri"/>
                  <a:cs typeface="Calibri"/>
                </a:rPr>
                <a:t> </a:t>
              </a:r>
              <a:r>
                <a:rPr sz="1600" b="1" dirty="0">
                  <a:solidFill>
                    <a:srgbClr val="FFFFFF"/>
                  </a:solidFill>
                  <a:latin typeface="Calibri"/>
                  <a:cs typeface="Calibri"/>
                </a:rPr>
                <a:t>Capex</a:t>
              </a:r>
              <a:r>
                <a:rPr sz="1600" b="1" spc="-30" dirty="0">
                  <a:solidFill>
                    <a:srgbClr val="FFFFFF"/>
                  </a:solidFill>
                  <a:latin typeface="Calibri"/>
                  <a:cs typeface="Calibri"/>
                </a:rPr>
                <a:t> </a:t>
              </a:r>
              <a:r>
                <a:rPr sz="1600" b="1" dirty="0">
                  <a:solidFill>
                    <a:srgbClr val="FFFFFF"/>
                  </a:solidFill>
                  <a:latin typeface="Calibri"/>
                  <a:cs typeface="Calibri"/>
                </a:rPr>
                <a:t>Non</a:t>
              </a:r>
              <a:r>
                <a:rPr sz="1600" b="1" spc="-55" dirty="0">
                  <a:solidFill>
                    <a:srgbClr val="FFFFFF"/>
                  </a:solidFill>
                  <a:latin typeface="Calibri"/>
                  <a:cs typeface="Calibri"/>
                </a:rPr>
                <a:t> </a:t>
              </a:r>
              <a:r>
                <a:rPr sz="1600" b="1" spc="-25" dirty="0">
                  <a:solidFill>
                    <a:srgbClr val="FFFFFF"/>
                  </a:solidFill>
                  <a:latin typeface="Calibri"/>
                  <a:cs typeface="Calibri"/>
                </a:rPr>
                <a:t>FS</a:t>
              </a:r>
              <a:endParaRPr sz="1600" dirty="0">
                <a:latin typeface="Calibri"/>
                <a:cs typeface="Calibri"/>
              </a:endParaRP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0" y="699009"/>
            <a:ext cx="4798810" cy="538219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5543" y="640800"/>
            <a:ext cx="4074857" cy="581089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 rot="19145895">
            <a:off x="4448269" y="2086774"/>
            <a:ext cx="2990662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ESTIMATION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1208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993</TotalTime>
  <Words>285</Words>
  <Application>Microsoft Office PowerPoint</Application>
  <PresentationFormat>Widescreen</PresentationFormat>
  <Paragraphs>82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 MT</vt:lpstr>
      <vt:lpstr>Calibri</vt:lpstr>
      <vt:lpstr>Calibri (Body)</vt:lpstr>
      <vt:lpstr>Franklin Gothic Medium</vt:lpstr>
      <vt:lpstr>Office Theme</vt:lpstr>
      <vt:lpstr>PERBAIKAN BAK COOLING TOWER 1</vt:lpstr>
      <vt:lpstr>EXECUTIVE SUMMARY</vt:lpstr>
      <vt:lpstr>Schedule</vt:lpstr>
      <vt:lpstr>Thank You</vt:lpstr>
      <vt:lpstr>BACKGROUND</vt:lpstr>
      <vt:lpstr>BACKGROUND</vt:lpstr>
      <vt:lpstr>BACKGROUND</vt:lpstr>
      <vt:lpstr>Quotation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Martha Maria Ari Devita Sari</dc:creator>
  <cp:lastModifiedBy>Cicik Andria</cp:lastModifiedBy>
  <cp:revision>71</cp:revision>
  <dcterms:created xsi:type="dcterms:W3CDTF">2024-09-15T23:00:20Z</dcterms:created>
  <dcterms:modified xsi:type="dcterms:W3CDTF">2026-08-03T10:53:01Z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2024-08-20T00:00:00Z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2024-09-16T00:00:00Z</vt:filetime>
  </property>
  <property fmtid="{D5CDD505-2E9C-101B-9397-08002B2CF9AE}" pid="5" name="Producer">
    <vt:lpwstr>Microsoft® PowerPoint® 2016</vt:lpwstr>
  </property>
  <property fmtid="{D5CDD505-2E9C-101B-9397-08002B2CF9AE}" pid="6" name="ICV">
    <vt:lpwstr>a6fa5e4cfe924fe595b3f12d30e20478</vt:lpwstr>
  </property>
</Properties>
</file>